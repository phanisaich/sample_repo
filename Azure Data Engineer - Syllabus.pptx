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7" r:id="rId3"/>
    <p:sldId id="268" r:id="rId4"/>
    <p:sldId id="292" r:id="rId5"/>
    <p:sldId id="269" r:id="rId6"/>
    <p:sldId id="293" r:id="rId7"/>
    <p:sldId id="294" r:id="rId8"/>
    <p:sldId id="295" r:id="rId9"/>
    <p:sldId id="270" r:id="rId10"/>
    <p:sldId id="291" r:id="rId11"/>
    <p:sldId id="277" r:id="rId12"/>
    <p:sldId id="271" r:id="rId13"/>
    <p:sldId id="272" r:id="rId14"/>
    <p:sldId id="273" r:id="rId15"/>
    <p:sldId id="274" r:id="rId16"/>
    <p:sldId id="258" r:id="rId17"/>
    <p:sldId id="261" r:id="rId18"/>
    <p:sldId id="275" r:id="rId19"/>
    <p:sldId id="276" r:id="rId20"/>
    <p:sldId id="278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5386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72" y="1"/>
            <a:ext cx="11943909" cy="61272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972" y="897587"/>
            <a:ext cx="11943909" cy="5062825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3" name="Straight Connector 32"/>
          <p:cNvCxnSpPr>
            <a:cxnSpLocks/>
          </p:cNvCxnSpPr>
          <p:nvPr/>
        </p:nvCxnSpPr>
        <p:spPr>
          <a:xfrm>
            <a:off x="112972" y="706445"/>
            <a:ext cx="1194390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7853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AC84B-8D09-4EFF-B4D3-9B8DCF29A5E8}" type="datetimeFigureOut">
              <a:rPr lang="en-US" smtClean="0"/>
              <a:t>2/12/2023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E61C4-BA08-4E77-A1EC-44ADCDC62B6D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2538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AC84B-8D09-4EFF-B4D3-9B8DCF29A5E8}" type="datetimeFigureOut">
              <a:rPr lang="en-US" smtClean="0"/>
              <a:t>2/12/2023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E61C4-BA08-4E77-A1EC-44ADCDC62B6D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2822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AC84B-8D09-4EFF-B4D3-9B8DCF29A5E8}" type="datetimeFigureOut">
              <a:rPr lang="en-US" smtClean="0"/>
              <a:t>2/12/2023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E61C4-BA08-4E77-A1EC-44ADCDC62B6D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2390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AC84B-8D09-4EFF-B4D3-9B8DCF29A5E8}" type="datetimeFigureOut">
              <a:rPr lang="en-US" smtClean="0"/>
              <a:t>2/12/2023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E61C4-BA08-4E77-A1EC-44ADCDC62B6D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9125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AC84B-8D09-4EFF-B4D3-9B8DCF29A5E8}" type="datetimeFigureOut">
              <a:rPr lang="en-US" smtClean="0"/>
              <a:t>2/12/2023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E61C4-BA08-4E77-A1EC-44ADCDC62B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082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AC84B-8D09-4EFF-B4D3-9B8DCF29A5E8}" type="datetimeFigureOut">
              <a:rPr lang="en-US" smtClean="0"/>
              <a:t>2/12/2023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E61C4-BA08-4E77-A1EC-44ADCDC62B6D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3927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11DAC84B-8D09-4EFF-B4D3-9B8DCF29A5E8}" type="datetimeFigureOut">
              <a:rPr lang="en-US" smtClean="0"/>
              <a:t>2/12/2023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E61C4-BA08-4E77-A1EC-44ADCDC62B6D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1984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AC84B-8D09-4EFF-B4D3-9B8DCF29A5E8}" type="datetimeFigureOut">
              <a:rPr lang="en-US" smtClean="0"/>
              <a:t>2/12/2023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E61C4-BA08-4E77-A1EC-44ADCDC62B6D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9047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AC84B-8D09-4EFF-B4D3-9B8DCF29A5E8}" type="datetimeFigureOut">
              <a:rPr lang="en-US" smtClean="0"/>
              <a:t>2/12/2023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E61C4-BA08-4E77-A1EC-44ADCDC62B6D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694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DAC84B-8D09-4EFF-B4D3-9B8DCF29A5E8}" type="datetimeFigureOut">
              <a:rPr lang="en-US" smtClean="0"/>
              <a:t>2/12/2023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401E61C4-BA08-4E77-A1EC-44ADCDC62B6D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3635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04C9E-F517-44F0-B7FE-93F9BACED5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Azure Data Engineering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5586C7-7784-400E-808D-70AC90523D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371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C0DCA-C617-44EB-B074-E8D836674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Syllabus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7FAED-C2A9-4E31-B1F0-7D3D47445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Azure Basics</a:t>
            </a:r>
          </a:p>
          <a:p>
            <a:r>
              <a:rPr lang="en-US" dirty="0"/>
              <a:t>Azure Storage</a:t>
            </a:r>
          </a:p>
          <a:p>
            <a:r>
              <a:rPr lang="en-US" dirty="0"/>
              <a:t>Azure Compute</a:t>
            </a:r>
          </a:p>
          <a:p>
            <a:r>
              <a:rPr lang="en-US" dirty="0"/>
              <a:t>Networking and security basics</a:t>
            </a:r>
          </a:p>
          <a:p>
            <a:r>
              <a:rPr lang="en-US" dirty="0"/>
              <a:t>Azure </a:t>
            </a:r>
            <a:r>
              <a:rPr lang="en-US" dirty="0" err="1"/>
              <a:t>Datafactory</a:t>
            </a:r>
            <a:endParaRPr lang="en-US" dirty="0"/>
          </a:p>
          <a:p>
            <a:r>
              <a:rPr lang="en-US" dirty="0"/>
              <a:t>Azure Databricks(includes </a:t>
            </a:r>
            <a:r>
              <a:rPr lang="en-US" dirty="0" err="1"/>
              <a:t>sql</a:t>
            </a:r>
            <a:r>
              <a:rPr lang="en-US" dirty="0"/>
              <a:t> </a:t>
            </a:r>
            <a:r>
              <a:rPr lang="en-US"/>
              <a:t>and python)</a:t>
            </a:r>
            <a:endParaRPr lang="en-US" dirty="0"/>
          </a:p>
          <a:p>
            <a:r>
              <a:rPr lang="en-US" dirty="0"/>
              <a:t>Azure Synapse</a:t>
            </a:r>
          </a:p>
          <a:p>
            <a:r>
              <a:rPr lang="en-US" dirty="0"/>
              <a:t>Azure Logic Apps and Functions Intro</a:t>
            </a:r>
          </a:p>
        </p:txBody>
      </p:sp>
    </p:spTree>
    <p:extLst>
      <p:ext uri="{BB962C8B-B14F-4D97-AF65-F5344CB8AC3E}">
        <p14:creationId xmlns:p14="http://schemas.microsoft.com/office/powerpoint/2010/main" val="10297109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C0DCA-C617-44EB-B074-E8D836674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Azure Basics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7FAED-C2A9-4E31-B1F0-7D3D47445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Azure Intro</a:t>
            </a:r>
          </a:p>
          <a:p>
            <a:r>
              <a:rPr lang="en-US" dirty="0" err="1"/>
              <a:t>Tenant,Management</a:t>
            </a:r>
            <a:r>
              <a:rPr lang="en-US" dirty="0"/>
              <a:t> </a:t>
            </a:r>
            <a:r>
              <a:rPr lang="en-US" dirty="0" err="1"/>
              <a:t>Group,Subscription</a:t>
            </a:r>
            <a:endParaRPr lang="en-US" dirty="0"/>
          </a:p>
          <a:p>
            <a:r>
              <a:rPr lang="en-US" dirty="0"/>
              <a:t>Region, </a:t>
            </a:r>
            <a:r>
              <a:rPr lang="en-US" dirty="0" err="1"/>
              <a:t>Avaiability</a:t>
            </a:r>
            <a:r>
              <a:rPr lang="en-US" dirty="0"/>
              <a:t> zones, resource groups</a:t>
            </a:r>
          </a:p>
          <a:p>
            <a:r>
              <a:rPr lang="en-US" dirty="0" err="1"/>
              <a:t>UAT,SIT,Prod,Dev</a:t>
            </a:r>
            <a:endParaRPr lang="en-US" dirty="0"/>
          </a:p>
          <a:p>
            <a:r>
              <a:rPr lang="en-US" dirty="0"/>
              <a:t>Azure cost center</a:t>
            </a:r>
          </a:p>
          <a:p>
            <a:r>
              <a:rPr lang="en-US" dirty="0"/>
              <a:t>Azure Billing model</a:t>
            </a:r>
          </a:p>
          <a:p>
            <a:r>
              <a:rPr lang="en-US" dirty="0"/>
              <a:t>Types of services</a:t>
            </a:r>
          </a:p>
          <a:p>
            <a:pPr lvl="1"/>
            <a:r>
              <a:rPr lang="en-US" dirty="0"/>
              <a:t>Compute – </a:t>
            </a:r>
            <a:r>
              <a:rPr lang="en-US" dirty="0" err="1"/>
              <a:t>VM,ADF,databricks</a:t>
            </a:r>
            <a:endParaRPr lang="en-US" dirty="0"/>
          </a:p>
          <a:p>
            <a:pPr lvl="1"/>
            <a:r>
              <a:rPr lang="en-US" dirty="0"/>
              <a:t>Storage – Storage accounts, DB, </a:t>
            </a:r>
            <a:r>
              <a:rPr lang="en-US" dirty="0" err="1"/>
              <a:t>DWH,Datalakes,delta</a:t>
            </a:r>
            <a:r>
              <a:rPr lang="en-US" dirty="0"/>
              <a:t> lake</a:t>
            </a:r>
          </a:p>
          <a:p>
            <a:pPr lvl="1"/>
            <a:r>
              <a:rPr lang="en-US" dirty="0"/>
              <a:t>Virtual networks – Virtual networks</a:t>
            </a:r>
          </a:p>
          <a:p>
            <a:pPr lvl="1"/>
            <a:r>
              <a:rPr lang="en-US" dirty="0"/>
              <a:t>ETL – </a:t>
            </a:r>
            <a:r>
              <a:rPr lang="en-US" dirty="0" err="1"/>
              <a:t>adf</a:t>
            </a:r>
            <a:endParaRPr lang="en-US" dirty="0"/>
          </a:p>
          <a:p>
            <a:pPr lvl="1"/>
            <a:r>
              <a:rPr lang="en-US" dirty="0"/>
              <a:t>Security – IAM,AD</a:t>
            </a:r>
          </a:p>
          <a:p>
            <a:pPr lvl="1"/>
            <a:r>
              <a:rPr lang="en-US" dirty="0" err="1"/>
              <a:t>Datascience</a:t>
            </a:r>
            <a:r>
              <a:rPr lang="en-US" dirty="0"/>
              <a:t> – Azure ML</a:t>
            </a:r>
          </a:p>
          <a:p>
            <a:pPr lvl="1"/>
            <a:r>
              <a:rPr lang="en-US" dirty="0" err="1"/>
              <a:t>Devops</a:t>
            </a:r>
            <a:r>
              <a:rPr lang="en-US" dirty="0"/>
              <a:t> – Azure </a:t>
            </a:r>
            <a:r>
              <a:rPr lang="en-US" dirty="0" err="1"/>
              <a:t>Devops</a:t>
            </a:r>
            <a:r>
              <a:rPr lang="en-US" dirty="0"/>
              <a:t> integrated with GIT</a:t>
            </a:r>
          </a:p>
          <a:p>
            <a:pPr lvl="1"/>
            <a:r>
              <a:rPr lang="en-US" dirty="0"/>
              <a:t>Secrets – Key Vault</a:t>
            </a:r>
          </a:p>
        </p:txBody>
      </p:sp>
    </p:spTree>
    <p:extLst>
      <p:ext uri="{BB962C8B-B14F-4D97-AF65-F5344CB8AC3E}">
        <p14:creationId xmlns:p14="http://schemas.microsoft.com/office/powerpoint/2010/main" val="2189390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E8E11-26E9-413A-8BE6-9300F49C5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network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AFC0F-D664-4544-B3E2-E0770A317E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Azure virtual network introduction</a:t>
            </a:r>
          </a:p>
          <a:p>
            <a:r>
              <a:rPr lang="en-US" dirty="0"/>
              <a:t>How to create a VNET</a:t>
            </a:r>
          </a:p>
          <a:p>
            <a:r>
              <a:rPr lang="en-US" dirty="0"/>
              <a:t>Subnets</a:t>
            </a:r>
          </a:p>
          <a:p>
            <a:r>
              <a:rPr lang="en-US" dirty="0"/>
              <a:t>NSG &amp; Firewalls (Intro)</a:t>
            </a:r>
          </a:p>
          <a:p>
            <a:r>
              <a:rPr lang="en-US" dirty="0"/>
              <a:t>Private End points</a:t>
            </a:r>
          </a:p>
        </p:txBody>
      </p:sp>
    </p:spTree>
    <p:extLst>
      <p:ext uri="{BB962C8B-B14F-4D97-AF65-F5344CB8AC3E}">
        <p14:creationId xmlns:p14="http://schemas.microsoft.com/office/powerpoint/2010/main" val="1316845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C0DCA-C617-44EB-B074-E8D836674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Azure Storage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7FAED-C2A9-4E31-B1F0-7D3D47445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Azure Blob and Gen2</a:t>
            </a:r>
          </a:p>
          <a:p>
            <a:r>
              <a:rPr lang="en-US" dirty="0"/>
              <a:t>Azure SQL(Will be covered using SQL Server)</a:t>
            </a:r>
          </a:p>
          <a:p>
            <a:r>
              <a:rPr lang="en-US" dirty="0"/>
              <a:t>Azure Synapse Dedicated Pool Introduction</a:t>
            </a:r>
          </a:p>
          <a:p>
            <a:r>
              <a:rPr lang="en-US" dirty="0"/>
              <a:t>Azure Virtual Machine</a:t>
            </a:r>
          </a:p>
          <a:p>
            <a:r>
              <a:rPr lang="en-US" dirty="0"/>
              <a:t>Delta Lake Introduction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7085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904F55-CCCC-4E3D-A2D2-37F918D87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Intro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7FAED-C2A9-4E31-B1F0-7D3D47445C8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sz="1400" dirty="0"/>
              <a:t>What is RDBMS</a:t>
            </a:r>
          </a:p>
          <a:p>
            <a:r>
              <a:rPr lang="en-US" sz="1400" dirty="0"/>
              <a:t>What is SQL</a:t>
            </a:r>
          </a:p>
          <a:p>
            <a:r>
              <a:rPr lang="en-US" sz="1400" dirty="0"/>
              <a:t>What is a database</a:t>
            </a:r>
          </a:p>
          <a:p>
            <a:r>
              <a:rPr lang="en-US" sz="1400" dirty="0"/>
              <a:t>what is a schema</a:t>
            </a:r>
          </a:p>
          <a:p>
            <a:r>
              <a:rPr lang="en-US" sz="1400" dirty="0"/>
              <a:t>What is Table</a:t>
            </a:r>
          </a:p>
          <a:p>
            <a:r>
              <a:rPr lang="en-US" sz="1400" dirty="0"/>
              <a:t>What are Datatype</a:t>
            </a:r>
          </a:p>
          <a:p>
            <a:r>
              <a:rPr lang="en-US" sz="1400" dirty="0"/>
              <a:t>Types - DDL,DML,DCL- </a:t>
            </a:r>
          </a:p>
          <a:p>
            <a:r>
              <a:rPr lang="en-US" sz="1400" dirty="0"/>
              <a:t>What are tables</a:t>
            </a:r>
          </a:p>
          <a:p>
            <a:r>
              <a:rPr lang="en-US" sz="1400" dirty="0"/>
              <a:t>constraints on table : Primary Key, foreign key, unique </a:t>
            </a:r>
            <a:r>
              <a:rPr lang="en-US" sz="1400" dirty="0" err="1"/>
              <a:t>key,not</a:t>
            </a:r>
            <a:r>
              <a:rPr lang="en-US" sz="1400" dirty="0"/>
              <a:t> null</a:t>
            </a:r>
          </a:p>
          <a:p>
            <a:endParaRPr lang="en-US" sz="14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A3099C1-F8C2-40D3-BA3E-295477C0BA1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r>
              <a:rPr lang="en-US" sz="1600" dirty="0"/>
              <a:t>Auto Increment</a:t>
            </a:r>
          </a:p>
          <a:p>
            <a:r>
              <a:rPr lang="en-US" sz="1600" dirty="0"/>
              <a:t>What is a relation</a:t>
            </a:r>
          </a:p>
          <a:p>
            <a:r>
              <a:rPr lang="en-US" sz="1600" dirty="0" err="1"/>
              <a:t>Sql</a:t>
            </a:r>
            <a:r>
              <a:rPr lang="en-US" sz="1600" dirty="0"/>
              <a:t> Syntaxes : Select, insert, update and delete</a:t>
            </a:r>
          </a:p>
          <a:p>
            <a:r>
              <a:rPr lang="en-US" sz="1600" dirty="0"/>
              <a:t>Data types and 	Type casting</a:t>
            </a:r>
          </a:p>
          <a:p>
            <a:r>
              <a:rPr lang="en-US" sz="1600" dirty="0"/>
              <a:t>Sorting Data - Order by</a:t>
            </a:r>
          </a:p>
          <a:p>
            <a:r>
              <a:rPr lang="en-US" sz="1600" dirty="0"/>
              <a:t>Filtering data - Where condition</a:t>
            </a:r>
          </a:p>
          <a:p>
            <a:r>
              <a:rPr lang="en-US" sz="1600" dirty="0"/>
              <a:t>Distinct Data</a:t>
            </a:r>
          </a:p>
          <a:p>
            <a:r>
              <a:rPr lang="en-US" sz="1600" dirty="0"/>
              <a:t>Limiting Data</a:t>
            </a:r>
          </a:p>
          <a:p>
            <a:r>
              <a:rPr lang="en-US" sz="1600" dirty="0"/>
              <a:t>Top n rows</a:t>
            </a:r>
          </a:p>
          <a:p>
            <a:r>
              <a:rPr lang="en-US" sz="1600" dirty="0"/>
              <a:t>Aliases (column and Table aliases)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5026206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904F55-CCCC-4E3D-A2D2-37F918D87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7FAED-C2A9-4E31-B1F0-7D3D47445C8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Operators : </a:t>
            </a:r>
          </a:p>
          <a:p>
            <a:pPr lvl="1"/>
            <a:r>
              <a:rPr lang="en-US" dirty="0"/>
              <a:t>Comparison Operators: =,!=,&lt;,&lt;=,&gt;,&gt;=</a:t>
            </a:r>
          </a:p>
          <a:p>
            <a:pPr lvl="1"/>
            <a:r>
              <a:rPr lang="en-US" dirty="0"/>
              <a:t>Logical Operators : </a:t>
            </a:r>
            <a:r>
              <a:rPr lang="en-US" dirty="0" err="1"/>
              <a:t>And,OR,BETWEEN,EXISTS,LIKE,NOT,IS</a:t>
            </a:r>
            <a:r>
              <a:rPr lang="en-US" dirty="0"/>
              <a:t> NULL,IN.</a:t>
            </a:r>
          </a:p>
          <a:p>
            <a:r>
              <a:rPr lang="en-US" dirty="0"/>
              <a:t>Aliases</a:t>
            </a:r>
          </a:p>
          <a:p>
            <a:r>
              <a:rPr lang="en-US" dirty="0"/>
              <a:t>case statement : in select </a:t>
            </a:r>
            <a:r>
              <a:rPr lang="en-US" dirty="0" err="1"/>
              <a:t>cluase</a:t>
            </a:r>
            <a:r>
              <a:rPr lang="en-US" dirty="0"/>
              <a:t> and where clause, using case statement to convert rows to columns </a:t>
            </a:r>
          </a:p>
          <a:p>
            <a:r>
              <a:rPr lang="en-US" dirty="0"/>
              <a:t>datetime conversions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A3099C1-F8C2-40D3-BA3E-295477C0BA1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string functions : </a:t>
            </a:r>
            <a:r>
              <a:rPr lang="en-US" dirty="0" err="1"/>
              <a:t>substring,char_index,datetime</a:t>
            </a:r>
            <a:r>
              <a:rPr lang="en-US" dirty="0"/>
              <a:t> </a:t>
            </a:r>
            <a:r>
              <a:rPr lang="en-US" dirty="0" err="1"/>
              <a:t>conversions,ltrim,rtrim,trim,upper,lower,length</a:t>
            </a:r>
            <a:r>
              <a:rPr lang="en-US" dirty="0"/>
              <a:t> of string</a:t>
            </a:r>
          </a:p>
          <a:p>
            <a:r>
              <a:rPr lang="en-US" dirty="0"/>
              <a:t>Aggregations : AVG,COUNT,MIN,MAX,SUM</a:t>
            </a:r>
          </a:p>
          <a:p>
            <a:r>
              <a:rPr lang="en-US" dirty="0"/>
              <a:t>Group by: </a:t>
            </a:r>
          </a:p>
          <a:p>
            <a:r>
              <a:rPr lang="en-US" dirty="0"/>
              <a:t>Having</a:t>
            </a:r>
          </a:p>
          <a:p>
            <a:r>
              <a:rPr lang="en-US" dirty="0"/>
              <a:t>Where vs Having</a:t>
            </a:r>
          </a:p>
          <a:p>
            <a:r>
              <a:rPr lang="en-US" dirty="0"/>
              <a:t>subqueries</a:t>
            </a:r>
          </a:p>
          <a:p>
            <a:r>
              <a:rPr lang="en-US" dirty="0"/>
              <a:t>corelated sub queries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1951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904F55-CCCC-4E3D-A2D2-37F918D87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7FAED-C2A9-4E31-B1F0-7D3D47445C8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Operations between two tables : </a:t>
            </a:r>
          </a:p>
          <a:p>
            <a:pPr lvl="1"/>
            <a:r>
              <a:rPr lang="en-US" dirty="0"/>
              <a:t>Inner join, outer joins(</a:t>
            </a:r>
            <a:r>
              <a:rPr lang="en-US" dirty="0" err="1"/>
              <a:t>left,right,cross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union and </a:t>
            </a:r>
            <a:r>
              <a:rPr lang="en-US" dirty="0" err="1"/>
              <a:t>unionall</a:t>
            </a:r>
            <a:endParaRPr lang="en-US" dirty="0"/>
          </a:p>
          <a:p>
            <a:pPr lvl="1"/>
            <a:r>
              <a:rPr lang="en-US" dirty="0"/>
              <a:t>EXISTS and NOT EXISTS</a:t>
            </a:r>
          </a:p>
          <a:p>
            <a:r>
              <a:rPr lang="en-US" dirty="0"/>
              <a:t>Window Functions : </a:t>
            </a:r>
            <a:r>
              <a:rPr lang="en-US" dirty="0" err="1"/>
              <a:t>Rank,Row_number,dense_rank,max,min,sum,lead</a:t>
            </a:r>
            <a:r>
              <a:rPr lang="en-US" dirty="0"/>
              <a:t> and lag</a:t>
            </a:r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A3099C1-F8C2-40D3-BA3E-295477C0BA1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Group by Vs Partition by</a:t>
            </a:r>
          </a:p>
          <a:p>
            <a:r>
              <a:rPr lang="en-US" dirty="0"/>
              <a:t>CTE example</a:t>
            </a:r>
          </a:p>
          <a:p>
            <a:r>
              <a:rPr lang="en-US" dirty="0"/>
              <a:t>pivot and unpivot example</a:t>
            </a:r>
          </a:p>
          <a:p>
            <a:r>
              <a:rPr lang="en-US" dirty="0"/>
              <a:t>Merge</a:t>
            </a:r>
          </a:p>
          <a:p>
            <a:r>
              <a:rPr lang="en-US" dirty="0"/>
              <a:t>Temp Tables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1098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C0DCA-C617-44EB-B074-E8D836674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 compute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7FAED-C2A9-4E31-B1F0-7D3D47445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Azure SQL and Virtual machines</a:t>
            </a:r>
          </a:p>
          <a:p>
            <a:r>
              <a:rPr lang="en-US" dirty="0" err="1"/>
              <a:t>Datafactory</a:t>
            </a:r>
            <a:r>
              <a:rPr lang="en-US" dirty="0"/>
              <a:t> VS Databricks (ETL Vs ELT)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12853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C0DCA-C617-44EB-B074-E8D836674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 Key Vault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7FAED-C2A9-4E31-B1F0-7D3D47445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 Vault Introduction</a:t>
            </a:r>
          </a:p>
          <a:p>
            <a:r>
              <a:rPr lang="en-US" dirty="0"/>
              <a:t>Secrets</a:t>
            </a:r>
          </a:p>
          <a:p>
            <a:r>
              <a:rPr lang="en-US" dirty="0"/>
              <a:t>Secrets Versioning</a:t>
            </a:r>
          </a:p>
          <a:p>
            <a:r>
              <a:rPr lang="en-US" dirty="0"/>
              <a:t>Security/access control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550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C0DCA-C617-44EB-B074-E8D836674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 functions &amp; Logic Apps Intro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7FAED-C2A9-4E31-B1F0-7D3D47445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Azure Functions</a:t>
            </a:r>
          </a:p>
          <a:p>
            <a:r>
              <a:rPr lang="en-US" dirty="0"/>
              <a:t>Azure Logic Apps</a:t>
            </a:r>
          </a:p>
          <a:p>
            <a:r>
              <a:rPr lang="en-US" dirty="0"/>
              <a:t>What is Azure Container Services(ACI)</a:t>
            </a:r>
          </a:p>
          <a:p>
            <a:r>
              <a:rPr lang="en-US" dirty="0"/>
              <a:t>What is Azure </a:t>
            </a:r>
            <a:r>
              <a:rPr lang="en-US" dirty="0" err="1"/>
              <a:t>Kubernetis</a:t>
            </a:r>
            <a:r>
              <a:rPr lang="en-US" dirty="0"/>
              <a:t> Services(AKS)</a:t>
            </a:r>
          </a:p>
        </p:txBody>
      </p:sp>
    </p:spTree>
    <p:extLst>
      <p:ext uri="{BB962C8B-B14F-4D97-AF65-F5344CB8AC3E}">
        <p14:creationId xmlns:p14="http://schemas.microsoft.com/office/powerpoint/2010/main" val="21646617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C0DCA-C617-44EB-B074-E8D836674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 </a:t>
            </a:r>
            <a:r>
              <a:rPr lang="en-US" dirty="0" err="1"/>
              <a:t>datafactory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7FAED-C2A9-4E31-B1F0-7D3D47445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ETL Basics(Facts, DIM and SCD)</a:t>
            </a:r>
          </a:p>
          <a:p>
            <a:r>
              <a:rPr lang="en-US" dirty="0"/>
              <a:t>ADF intro</a:t>
            </a:r>
          </a:p>
          <a:p>
            <a:r>
              <a:rPr lang="en-US" dirty="0"/>
              <a:t>Integration Services(Azure, Selfhosted and SSIS)</a:t>
            </a:r>
          </a:p>
          <a:p>
            <a:r>
              <a:rPr lang="en-US" dirty="0"/>
              <a:t>Linked services(How to connect to various data sources)</a:t>
            </a:r>
          </a:p>
          <a:p>
            <a:r>
              <a:rPr lang="en-US" dirty="0"/>
              <a:t>Data sources</a:t>
            </a:r>
          </a:p>
          <a:p>
            <a:r>
              <a:rPr lang="en-US" dirty="0"/>
              <a:t>Private end points (intro)</a:t>
            </a:r>
          </a:p>
          <a:p>
            <a:r>
              <a:rPr lang="en-US" dirty="0" err="1"/>
              <a:t>Adf</a:t>
            </a:r>
            <a:r>
              <a:rPr lang="en-US" dirty="0"/>
              <a:t> activities (Copy Data, Notebook, Variables, delete, execute pipeline, fail, </a:t>
            </a:r>
            <a:r>
              <a:rPr lang="en-US" dirty="0" err="1"/>
              <a:t>getmetadata</a:t>
            </a:r>
            <a:r>
              <a:rPr lang="en-US" dirty="0"/>
              <a:t>, </a:t>
            </a:r>
            <a:r>
              <a:rPr lang="en-US" dirty="0" err="1"/>
              <a:t>lookup,script,storedprocedure</a:t>
            </a:r>
            <a:r>
              <a:rPr lang="en-US" dirty="0"/>
              <a:t>, </a:t>
            </a:r>
            <a:r>
              <a:rPr lang="en-US" dirty="0" err="1"/>
              <a:t>validation,web,wait</a:t>
            </a:r>
            <a:r>
              <a:rPr lang="en-US" dirty="0"/>
              <a:t>, </a:t>
            </a:r>
            <a:r>
              <a:rPr lang="en-US" dirty="0" err="1"/>
              <a:t>filter,foreach,if,switch</a:t>
            </a:r>
            <a:r>
              <a:rPr lang="en-US" dirty="0"/>
              <a:t> etc.)</a:t>
            </a:r>
          </a:p>
          <a:p>
            <a:r>
              <a:rPr lang="en-US" dirty="0"/>
              <a:t>Integration with Databricks</a:t>
            </a:r>
          </a:p>
          <a:p>
            <a:r>
              <a:rPr lang="en-US" dirty="0"/>
              <a:t>Self hosted integration run time</a:t>
            </a:r>
          </a:p>
          <a:p>
            <a:r>
              <a:rPr lang="en-US" dirty="0"/>
              <a:t>GIT integration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5007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C0DCA-C617-44EB-B074-E8D836674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 </a:t>
            </a:r>
            <a:r>
              <a:rPr lang="en-US" dirty="0" err="1"/>
              <a:t>datafactory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7FAED-C2A9-4E31-B1F0-7D3D47445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pipeline development</a:t>
            </a:r>
          </a:p>
          <a:p>
            <a:r>
              <a:rPr lang="en-US" dirty="0"/>
              <a:t>Expressions and parameters</a:t>
            </a:r>
          </a:p>
          <a:p>
            <a:r>
              <a:rPr lang="en-US" dirty="0"/>
              <a:t>Dynamic pipeline development using parameters</a:t>
            </a:r>
          </a:p>
          <a:p>
            <a:r>
              <a:rPr lang="en-US" dirty="0"/>
              <a:t>Pipeline monitoring</a:t>
            </a:r>
          </a:p>
          <a:p>
            <a:r>
              <a:rPr lang="en-US" dirty="0"/>
              <a:t>Data flow intro</a:t>
            </a:r>
          </a:p>
          <a:p>
            <a:r>
              <a:rPr lang="en-US" dirty="0"/>
              <a:t>Dataflow activities(Source, Sink, New branch, Conditional Split, Exists, </a:t>
            </a:r>
            <a:r>
              <a:rPr lang="en-US" dirty="0" err="1"/>
              <a:t>Union,Derived</a:t>
            </a:r>
            <a:r>
              <a:rPr lang="en-US" dirty="0"/>
              <a:t> column, cast, filter, sort etc.)</a:t>
            </a:r>
          </a:p>
          <a:p>
            <a:r>
              <a:rPr lang="en-US" dirty="0"/>
              <a:t>Triggers &amp; Schedules</a:t>
            </a:r>
          </a:p>
          <a:p>
            <a:r>
              <a:rPr lang="en-US" dirty="0"/>
              <a:t>Debug mode</a:t>
            </a:r>
          </a:p>
          <a:p>
            <a:r>
              <a:rPr lang="en-US" dirty="0"/>
              <a:t>Trigger VS debug</a:t>
            </a:r>
          </a:p>
          <a:p>
            <a:r>
              <a:rPr lang="en-US" dirty="0"/>
              <a:t>Logging</a:t>
            </a:r>
          </a:p>
          <a:p>
            <a:r>
              <a:rPr lang="en-US" dirty="0"/>
              <a:t>Real time project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899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C0DCA-C617-44EB-B074-E8D836674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 synapse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7FAED-C2A9-4E31-B1F0-7D3D47445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Synapse intro</a:t>
            </a:r>
          </a:p>
          <a:p>
            <a:r>
              <a:rPr lang="en-US" dirty="0"/>
              <a:t>Synapse architecture</a:t>
            </a:r>
          </a:p>
          <a:p>
            <a:r>
              <a:rPr lang="en-US" dirty="0" err="1"/>
              <a:t>Sql</a:t>
            </a:r>
            <a:r>
              <a:rPr lang="en-US" dirty="0"/>
              <a:t> pools</a:t>
            </a:r>
          </a:p>
          <a:p>
            <a:r>
              <a:rPr lang="en-US" dirty="0"/>
              <a:t>Built in vs dedicate pool</a:t>
            </a:r>
          </a:p>
          <a:p>
            <a:r>
              <a:rPr lang="en-US" dirty="0"/>
              <a:t>Spark pools</a:t>
            </a:r>
          </a:p>
          <a:p>
            <a:r>
              <a:rPr lang="en-US" dirty="0"/>
              <a:t>Pipelines</a:t>
            </a:r>
          </a:p>
          <a:p>
            <a:r>
              <a:rPr lang="en-US" dirty="0"/>
              <a:t>Monitoring </a:t>
            </a:r>
          </a:p>
          <a:p>
            <a:r>
              <a:rPr lang="en-US" dirty="0"/>
              <a:t>Security and admin activities</a:t>
            </a:r>
          </a:p>
          <a:p>
            <a:r>
              <a:rPr lang="en-US" dirty="0"/>
              <a:t>Connection using </a:t>
            </a:r>
            <a:r>
              <a:rPr lang="en-US" dirty="0" err="1"/>
              <a:t>jdbc</a:t>
            </a:r>
            <a:endParaRPr lang="en-US" dirty="0"/>
          </a:p>
          <a:p>
            <a:r>
              <a:rPr lang="en-US" dirty="0" err="1"/>
              <a:t>Distribtion</a:t>
            </a:r>
            <a:r>
              <a:rPr lang="en-US" dirty="0"/>
              <a:t> </a:t>
            </a:r>
          </a:p>
          <a:p>
            <a:r>
              <a:rPr lang="en-US" dirty="0"/>
              <a:t>Dedicated pool table types(round robin, replicated and hash distributions)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64284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C0DCA-C617-44EB-B074-E8D836674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 synapse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7FAED-C2A9-4E31-B1F0-7D3D47445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External tables</a:t>
            </a:r>
          </a:p>
          <a:p>
            <a:r>
              <a:rPr lang="en-US" dirty="0"/>
              <a:t>Querying external datasets </a:t>
            </a:r>
          </a:p>
          <a:p>
            <a:r>
              <a:rPr lang="en-US" dirty="0"/>
              <a:t>Integration with GIT</a:t>
            </a:r>
          </a:p>
          <a:p>
            <a:r>
              <a:rPr lang="en-US" dirty="0"/>
              <a:t>Real time project</a:t>
            </a:r>
          </a:p>
        </p:txBody>
      </p:sp>
    </p:spTree>
    <p:extLst>
      <p:ext uri="{BB962C8B-B14F-4D97-AF65-F5344CB8AC3E}">
        <p14:creationId xmlns:p14="http://schemas.microsoft.com/office/powerpoint/2010/main" val="31001668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C0DCA-C617-44EB-B074-E8D836674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331" y="868874"/>
            <a:ext cx="9605635" cy="1059305"/>
          </a:xfrm>
        </p:spPr>
        <p:txBody>
          <a:bodyPr/>
          <a:lstStyle/>
          <a:p>
            <a:r>
              <a:rPr lang="en-US" dirty="0"/>
              <a:t>Programming - Python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01C460-587C-4C40-9D5E-755FBCD492D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Python Intro</a:t>
            </a:r>
          </a:p>
          <a:p>
            <a:r>
              <a:rPr lang="en-US" dirty="0"/>
              <a:t>Python Setup</a:t>
            </a:r>
          </a:p>
          <a:p>
            <a:r>
              <a:rPr lang="en-US" dirty="0"/>
              <a:t>Pip</a:t>
            </a:r>
          </a:p>
          <a:p>
            <a:r>
              <a:rPr lang="en-US" dirty="0"/>
              <a:t>Google </a:t>
            </a:r>
            <a:r>
              <a:rPr lang="en-US" dirty="0" err="1"/>
              <a:t>Colab</a:t>
            </a:r>
            <a:r>
              <a:rPr lang="en-US" dirty="0"/>
              <a:t> &amp; Databricks Community Edition</a:t>
            </a:r>
          </a:p>
          <a:p>
            <a:r>
              <a:rPr lang="en-US" dirty="0" err="1"/>
              <a:t>DataTypes</a:t>
            </a:r>
            <a:r>
              <a:rPr lang="en-US" dirty="0"/>
              <a:t> and Variables</a:t>
            </a:r>
          </a:p>
          <a:p>
            <a:r>
              <a:rPr lang="en-US" dirty="0"/>
              <a:t>String Operations</a:t>
            </a:r>
          </a:p>
          <a:p>
            <a:r>
              <a:rPr lang="en-US" dirty="0"/>
              <a:t>Loops and Conditional Statements</a:t>
            </a:r>
          </a:p>
          <a:p>
            <a:r>
              <a:rPr lang="en-US" dirty="0"/>
              <a:t>Collections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8BB41E9-83A1-4369-A185-7A07D085F0B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Python Functions</a:t>
            </a:r>
          </a:p>
          <a:p>
            <a:r>
              <a:rPr lang="en-US" dirty="0"/>
              <a:t>Anonymous Functions</a:t>
            </a:r>
          </a:p>
          <a:p>
            <a:r>
              <a:rPr lang="en-US" dirty="0"/>
              <a:t>Multi </a:t>
            </a:r>
            <a:r>
              <a:rPr lang="en-US" dirty="0" err="1"/>
              <a:t>processings</a:t>
            </a:r>
            <a:endParaRPr lang="en-US" dirty="0"/>
          </a:p>
          <a:p>
            <a:r>
              <a:rPr lang="en-US" dirty="0" err="1"/>
              <a:t>flatmap</a:t>
            </a:r>
            <a:endParaRPr lang="en-US" dirty="0"/>
          </a:p>
          <a:p>
            <a:r>
              <a:rPr lang="en-US" dirty="0"/>
              <a:t>Oops with Python</a:t>
            </a:r>
          </a:p>
          <a:p>
            <a:r>
              <a:rPr lang="en-US" dirty="0"/>
              <a:t>Magic </a:t>
            </a:r>
            <a:r>
              <a:rPr lang="en-US" dirty="0" err="1"/>
              <a:t>Dunder</a:t>
            </a:r>
            <a:r>
              <a:rPr lang="en-US" dirty="0"/>
              <a:t> Methods</a:t>
            </a:r>
          </a:p>
          <a:p>
            <a:r>
              <a:rPr lang="en-US" dirty="0"/>
              <a:t>Positional/inline parameters</a:t>
            </a:r>
          </a:p>
          <a:p>
            <a:r>
              <a:rPr lang="en-US" dirty="0"/>
              <a:t>Logging</a:t>
            </a:r>
          </a:p>
          <a:p>
            <a:r>
              <a:rPr lang="en-US" dirty="0"/>
              <a:t>Multi Threads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41824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C0DCA-C617-44EB-B074-E8D836674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7FAED-C2A9-4E31-B1F0-7D3D47445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Spark Introduction</a:t>
            </a:r>
          </a:p>
          <a:p>
            <a:r>
              <a:rPr lang="en-US" dirty="0"/>
              <a:t>Spark Core</a:t>
            </a:r>
          </a:p>
          <a:p>
            <a:r>
              <a:rPr lang="en-US" dirty="0" err="1"/>
              <a:t>Pyspark</a:t>
            </a:r>
            <a:r>
              <a:rPr lang="en-US" dirty="0"/>
              <a:t> Architecture</a:t>
            </a:r>
          </a:p>
          <a:p>
            <a:r>
              <a:rPr lang="en-US" dirty="0"/>
              <a:t>Spark SQL</a:t>
            </a:r>
          </a:p>
          <a:p>
            <a:r>
              <a:rPr lang="en-US" dirty="0"/>
              <a:t>Different types of File Formats : Parquet, Avro, </a:t>
            </a:r>
            <a:r>
              <a:rPr lang="en-US" dirty="0" err="1"/>
              <a:t>Json,CSV</a:t>
            </a:r>
            <a:endParaRPr lang="en-US" dirty="0"/>
          </a:p>
          <a:p>
            <a:r>
              <a:rPr lang="en-US" dirty="0"/>
              <a:t>Spark UI</a:t>
            </a:r>
          </a:p>
          <a:p>
            <a:r>
              <a:rPr lang="en-US" dirty="0" err="1"/>
              <a:t>Dataframe</a:t>
            </a:r>
            <a:r>
              <a:rPr lang="en-US" dirty="0"/>
              <a:t> And Dataset</a:t>
            </a:r>
          </a:p>
          <a:p>
            <a:r>
              <a:rPr lang="en-US" dirty="0" err="1"/>
              <a:t>Dataframe</a:t>
            </a:r>
            <a:r>
              <a:rPr lang="en-US" dirty="0"/>
              <a:t> Operations</a:t>
            </a:r>
          </a:p>
          <a:p>
            <a:r>
              <a:rPr lang="en-US" dirty="0"/>
              <a:t>Optimizations in Spark</a:t>
            </a:r>
          </a:p>
          <a:p>
            <a:r>
              <a:rPr lang="en-US" dirty="0"/>
              <a:t>Spark Structured Streaming</a:t>
            </a:r>
          </a:p>
        </p:txBody>
      </p:sp>
    </p:spTree>
    <p:extLst>
      <p:ext uri="{BB962C8B-B14F-4D97-AF65-F5344CB8AC3E}">
        <p14:creationId xmlns:p14="http://schemas.microsoft.com/office/powerpoint/2010/main" val="14082194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C0DCA-C617-44EB-B074-E8D836674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 </a:t>
            </a:r>
            <a:r>
              <a:rPr lang="en-US" dirty="0" err="1"/>
              <a:t>databricks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7FAED-C2A9-4E31-B1F0-7D3D47445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Databricks intro</a:t>
            </a:r>
          </a:p>
          <a:p>
            <a:r>
              <a:rPr lang="en-US" dirty="0"/>
              <a:t>Databricks architecture</a:t>
            </a:r>
          </a:p>
          <a:p>
            <a:r>
              <a:rPr lang="en-US" dirty="0"/>
              <a:t>Delta lake intro</a:t>
            </a:r>
          </a:p>
          <a:p>
            <a:r>
              <a:rPr lang="en-US" dirty="0"/>
              <a:t>Merge operation</a:t>
            </a:r>
          </a:p>
          <a:p>
            <a:r>
              <a:rPr lang="en-US" dirty="0"/>
              <a:t>Insert, update and delete operations</a:t>
            </a:r>
          </a:p>
          <a:p>
            <a:r>
              <a:rPr lang="en-US" dirty="0"/>
              <a:t>Spark vs </a:t>
            </a:r>
            <a:r>
              <a:rPr lang="en-US" dirty="0" err="1"/>
              <a:t>sql</a:t>
            </a:r>
            <a:r>
              <a:rPr lang="en-US" dirty="0"/>
              <a:t> tables</a:t>
            </a:r>
          </a:p>
          <a:p>
            <a:r>
              <a:rPr lang="en-US" dirty="0"/>
              <a:t>External and managed tables</a:t>
            </a:r>
          </a:p>
          <a:p>
            <a:r>
              <a:rPr lang="en-US" dirty="0"/>
              <a:t>Mounting to azure storage</a:t>
            </a:r>
          </a:p>
          <a:p>
            <a:r>
              <a:rPr lang="en-US" dirty="0"/>
              <a:t>Accessing azure </a:t>
            </a:r>
            <a:r>
              <a:rPr lang="en-US" dirty="0" err="1"/>
              <a:t>sql</a:t>
            </a:r>
            <a:r>
              <a:rPr lang="en-US" dirty="0"/>
              <a:t> data</a:t>
            </a:r>
          </a:p>
          <a:p>
            <a:r>
              <a:rPr lang="en-US" dirty="0"/>
              <a:t>Integration with storage account</a:t>
            </a:r>
          </a:p>
          <a:p>
            <a:r>
              <a:rPr lang="en-US" dirty="0"/>
              <a:t>Secretes and scopes</a:t>
            </a:r>
          </a:p>
          <a:p>
            <a:r>
              <a:rPr lang="en-US" dirty="0"/>
              <a:t>Integration with key vault</a:t>
            </a:r>
          </a:p>
        </p:txBody>
      </p:sp>
    </p:spTree>
    <p:extLst>
      <p:ext uri="{BB962C8B-B14F-4D97-AF65-F5344CB8AC3E}">
        <p14:creationId xmlns:p14="http://schemas.microsoft.com/office/powerpoint/2010/main" val="3683139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C0DCA-C617-44EB-B074-E8D836674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 </a:t>
            </a:r>
            <a:r>
              <a:rPr lang="en-US" dirty="0" err="1"/>
              <a:t>databricks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7FAED-C2A9-4E31-B1F0-7D3D47445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Widgets</a:t>
            </a:r>
          </a:p>
          <a:p>
            <a:r>
              <a:rPr lang="en-US" dirty="0"/>
              <a:t>Calling notebooks inside notebooks</a:t>
            </a:r>
          </a:p>
          <a:p>
            <a:r>
              <a:rPr lang="en-US" dirty="0"/>
              <a:t>Passing parameters from ADF/synapse</a:t>
            </a:r>
          </a:p>
          <a:p>
            <a:r>
              <a:rPr lang="en-US" dirty="0"/>
              <a:t>Reading parameters from ADF/Synapse</a:t>
            </a:r>
          </a:p>
          <a:p>
            <a:r>
              <a:rPr lang="en-US" dirty="0"/>
              <a:t>Scheduling</a:t>
            </a:r>
          </a:p>
          <a:p>
            <a:r>
              <a:rPr lang="en-US" dirty="0"/>
              <a:t>Integration with GIT</a:t>
            </a:r>
          </a:p>
          <a:p>
            <a:r>
              <a:rPr lang="en-US" dirty="0"/>
              <a:t>Real time project</a:t>
            </a:r>
          </a:p>
        </p:txBody>
      </p:sp>
    </p:spTree>
    <p:extLst>
      <p:ext uri="{BB962C8B-B14F-4D97-AF65-F5344CB8AC3E}">
        <p14:creationId xmlns:p14="http://schemas.microsoft.com/office/powerpoint/2010/main" val="7017104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C0DCA-C617-44EB-B074-E8D836674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7FAED-C2A9-4E31-B1F0-7D3D47445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763018105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97</TotalTime>
  <Words>820</Words>
  <Application>Microsoft Office PowerPoint</Application>
  <PresentationFormat>Widescreen</PresentationFormat>
  <Paragraphs>192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Gill Sans MT</vt:lpstr>
      <vt:lpstr>Gallery</vt:lpstr>
      <vt:lpstr>Azure Data Engineering</vt:lpstr>
      <vt:lpstr>Syllabus</vt:lpstr>
      <vt:lpstr>Azure Basics </vt:lpstr>
      <vt:lpstr>Virtual network Basics</vt:lpstr>
      <vt:lpstr>Azure Storage </vt:lpstr>
      <vt:lpstr>SQL Intro</vt:lpstr>
      <vt:lpstr>SQL Operations</vt:lpstr>
      <vt:lpstr>Advanced SQL</vt:lpstr>
      <vt:lpstr>Azure compute</vt:lpstr>
      <vt:lpstr>Azure Key Vault</vt:lpstr>
      <vt:lpstr>Azure functions &amp; Logic Apps Intro</vt:lpstr>
      <vt:lpstr>Azure datafactory</vt:lpstr>
      <vt:lpstr>Azure datafactory</vt:lpstr>
      <vt:lpstr>Azure synapse</vt:lpstr>
      <vt:lpstr>Azure synapse</vt:lpstr>
      <vt:lpstr>Programming - Python</vt:lpstr>
      <vt:lpstr>spark</vt:lpstr>
      <vt:lpstr>Azure databricks</vt:lpstr>
      <vt:lpstr>Azure databricks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choragudi phani sai sriram</dc:creator>
  <cp:lastModifiedBy>Sai Sriram Choragudi Phani (CR/RAI3-IN)</cp:lastModifiedBy>
  <cp:revision>97</cp:revision>
  <dcterms:created xsi:type="dcterms:W3CDTF">2021-07-20T06:51:37Z</dcterms:created>
  <dcterms:modified xsi:type="dcterms:W3CDTF">2023-02-11T19:12:18Z</dcterms:modified>
</cp:coreProperties>
</file>