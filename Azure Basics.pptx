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68" r:id="rId4"/>
    <p:sldId id="269" r:id="rId5"/>
    <p:sldId id="270" r:id="rId6"/>
    <p:sldId id="271" r:id="rId7"/>
    <p:sldId id="272" r:id="rId8"/>
    <p:sldId id="274" r:id="rId9"/>
    <p:sldId id="273" r:id="rId10"/>
    <p:sldId id="275" r:id="rId11"/>
    <p:sldId id="276" r:id="rId12"/>
    <p:sldId id="277" r:id="rId13"/>
    <p:sldId id="278" r:id="rId14"/>
    <p:sldId id="279" r:id="rId15"/>
    <p:sldId id="280" r:id="rId16"/>
    <p:sldId id="281" r:id="rId17"/>
    <p:sldId id="291" r:id="rId18"/>
    <p:sldId id="29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5386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2972" y="1"/>
            <a:ext cx="11943909" cy="612728"/>
          </a:xfrm>
        </p:spPr>
        <p:txBody>
          <a:bodyPr/>
          <a:lstStyle/>
          <a:p>
            <a:r>
              <a:rPr lang="en-US"/>
              <a:t>Click to edit Master title style</a:t>
            </a:r>
            <a:endParaRPr lang="en-US" dirty="0"/>
          </a:p>
        </p:txBody>
      </p:sp>
      <p:sp>
        <p:nvSpPr>
          <p:cNvPr id="3" name="Content Placeholder 2"/>
          <p:cNvSpPr>
            <a:spLocks noGrp="1"/>
          </p:cNvSpPr>
          <p:nvPr>
            <p:ph idx="1"/>
          </p:nvPr>
        </p:nvSpPr>
        <p:spPr>
          <a:xfrm>
            <a:off x="112972" y="897587"/>
            <a:ext cx="11943909" cy="5062825"/>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p:cNvCxnSpPr>
            <a:cxnSpLocks/>
          </p:cNvCxnSpPr>
          <p:nvPr/>
        </p:nvCxnSpPr>
        <p:spPr>
          <a:xfrm>
            <a:off x="112972" y="706445"/>
            <a:ext cx="1194390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7853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DAC84B-8D09-4EFF-B4D3-9B8DCF29A5E8}" type="datetimeFigureOut">
              <a:rPr lang="en-US" smtClean="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E61C4-BA08-4E77-A1EC-44ADCDC62B6D}"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2538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DAC84B-8D09-4EFF-B4D3-9B8DCF29A5E8}" type="datetimeFigureOut">
              <a:rPr lang="en-US" smtClean="0"/>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E61C4-BA08-4E77-A1EC-44ADCDC62B6D}"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2822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DAC84B-8D09-4EFF-B4D3-9B8DCF29A5E8}" type="datetimeFigureOut">
              <a:rPr lang="en-US" smtClean="0"/>
              <a:t>5/9/2023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E61C4-BA08-4E77-A1EC-44ADCDC62B6D}"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2390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DAC84B-8D09-4EFF-B4D3-9B8DCF29A5E8}" type="datetimeFigureOut">
              <a:rPr lang="en-US" smtClean="0"/>
              <a:t>5/9/2023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1E61C4-BA08-4E77-A1EC-44ADCDC62B6D}"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9125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DAC84B-8D09-4EFF-B4D3-9B8DCF29A5E8}" type="datetimeFigureOut">
              <a:rPr lang="en-US" smtClean="0"/>
              <a:t>5/9/2023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1E61C4-BA08-4E77-A1EC-44ADCDC62B6D}" type="slidenum">
              <a:rPr lang="en-US" smtClean="0"/>
              <a:t>‹#›</a:t>
            </a:fld>
            <a:endParaRPr lang="en-US"/>
          </a:p>
        </p:txBody>
      </p:sp>
    </p:spTree>
    <p:extLst>
      <p:ext uri="{BB962C8B-B14F-4D97-AF65-F5344CB8AC3E}">
        <p14:creationId xmlns:p14="http://schemas.microsoft.com/office/powerpoint/2010/main" val="32400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DAC84B-8D09-4EFF-B4D3-9B8DCF29A5E8}" type="datetimeFigureOut">
              <a:rPr lang="en-US" smtClean="0"/>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E61C4-BA08-4E77-A1EC-44ADCDC62B6D}"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3927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1DAC84B-8D09-4EFF-B4D3-9B8DCF29A5E8}" type="datetimeFigureOut">
              <a:rPr lang="en-US" smtClean="0"/>
              <a:t>5/9/2023</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01E61C4-BA08-4E77-A1EC-44ADCDC62B6D}"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21984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AC84B-8D09-4EFF-B4D3-9B8DCF29A5E8}" type="datetimeFigureOut">
              <a:rPr lang="en-US" smtClean="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E61C4-BA08-4E77-A1EC-44ADCDC62B6D}"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19047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AC84B-8D09-4EFF-B4D3-9B8DCF29A5E8}" type="datetimeFigureOut">
              <a:rPr lang="en-US" smtClean="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E61C4-BA08-4E77-A1EC-44ADCDC62B6D}"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0694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1DAC84B-8D09-4EFF-B4D3-9B8DCF29A5E8}" type="datetimeFigureOut">
              <a:rPr lang="en-US" smtClean="0"/>
              <a:t>5/9/2023</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01E61C4-BA08-4E77-A1EC-44ADCDC62B6D}"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6350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04C9E-F517-44F0-B7FE-93F9BACED5D4}"/>
              </a:ext>
            </a:extLst>
          </p:cNvPr>
          <p:cNvSpPr>
            <a:spLocks noGrp="1"/>
          </p:cNvSpPr>
          <p:nvPr>
            <p:ph type="ctrTitle"/>
          </p:nvPr>
        </p:nvSpPr>
        <p:spPr/>
        <p:txBody>
          <a:bodyPr/>
          <a:lstStyle/>
          <a:p>
            <a:r>
              <a:rPr lang="en-US" dirty="0"/>
              <a:t>Azure basics</a:t>
            </a:r>
          </a:p>
        </p:txBody>
      </p:sp>
      <p:sp>
        <p:nvSpPr>
          <p:cNvPr id="3" name="Subtitle 2">
            <a:extLst>
              <a:ext uri="{FF2B5EF4-FFF2-40B4-BE49-F238E27FC236}">
                <a16:creationId xmlns:a16="http://schemas.microsoft.com/office/drawing/2014/main" id="{D95586C7-7784-400E-808D-70AC90523D4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51371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normAutofit lnSpcReduction="10000"/>
          </a:bodyPr>
          <a:lstStyle/>
          <a:p>
            <a:r>
              <a:rPr lang="en-US" dirty="0"/>
              <a:t>Azure Intro</a:t>
            </a:r>
          </a:p>
          <a:p>
            <a:r>
              <a:rPr lang="en-US" dirty="0" err="1"/>
              <a:t>Tenant,Management</a:t>
            </a:r>
            <a:r>
              <a:rPr lang="en-US" dirty="0"/>
              <a:t> </a:t>
            </a:r>
            <a:r>
              <a:rPr lang="en-US" dirty="0" err="1"/>
              <a:t>Group,Subscription</a:t>
            </a:r>
            <a:endParaRPr lang="en-US" dirty="0"/>
          </a:p>
          <a:p>
            <a:r>
              <a:rPr lang="en-US" dirty="0"/>
              <a:t>Region, </a:t>
            </a:r>
            <a:r>
              <a:rPr lang="en-US" dirty="0" err="1"/>
              <a:t>Avaiability</a:t>
            </a:r>
            <a:r>
              <a:rPr lang="en-US" dirty="0"/>
              <a:t> zones, resource groups</a:t>
            </a:r>
          </a:p>
          <a:p>
            <a:r>
              <a:rPr lang="en-US" dirty="0" err="1"/>
              <a:t>UAT,SIT,Prod,Dev</a:t>
            </a:r>
            <a:endParaRPr lang="en-US" dirty="0"/>
          </a:p>
          <a:p>
            <a:r>
              <a:rPr lang="en-US" dirty="0"/>
              <a:t>Types of services</a:t>
            </a:r>
          </a:p>
          <a:p>
            <a:pPr lvl="1"/>
            <a:r>
              <a:rPr lang="en-US" dirty="0"/>
              <a:t>Compute – </a:t>
            </a:r>
            <a:r>
              <a:rPr lang="en-US" dirty="0" err="1"/>
              <a:t>VM,ADF,databricks</a:t>
            </a:r>
            <a:endParaRPr lang="en-US" dirty="0"/>
          </a:p>
          <a:p>
            <a:pPr lvl="1"/>
            <a:r>
              <a:rPr lang="en-US" dirty="0"/>
              <a:t>Storage – Storage accounts, DB, </a:t>
            </a:r>
            <a:r>
              <a:rPr lang="en-US" dirty="0" err="1"/>
              <a:t>DWH,Datalakes,delta</a:t>
            </a:r>
            <a:r>
              <a:rPr lang="en-US" dirty="0"/>
              <a:t> lake</a:t>
            </a:r>
          </a:p>
          <a:p>
            <a:pPr lvl="1"/>
            <a:r>
              <a:rPr lang="en-US" dirty="0"/>
              <a:t>Virtual networks – Virtual networks</a:t>
            </a:r>
          </a:p>
          <a:p>
            <a:pPr lvl="1"/>
            <a:r>
              <a:rPr lang="en-US" dirty="0"/>
              <a:t>ETL – </a:t>
            </a:r>
            <a:r>
              <a:rPr lang="en-US" dirty="0" err="1"/>
              <a:t>adf</a:t>
            </a:r>
            <a:endParaRPr lang="en-US" dirty="0"/>
          </a:p>
          <a:p>
            <a:pPr lvl="1"/>
            <a:r>
              <a:rPr lang="en-US" dirty="0"/>
              <a:t>Security – IAM,AD</a:t>
            </a:r>
          </a:p>
          <a:p>
            <a:pPr lvl="1"/>
            <a:r>
              <a:rPr lang="en-US" dirty="0" err="1"/>
              <a:t>Datascience</a:t>
            </a:r>
            <a:r>
              <a:rPr lang="en-US" dirty="0"/>
              <a:t> – Azure ML</a:t>
            </a:r>
          </a:p>
          <a:p>
            <a:pPr lvl="1"/>
            <a:r>
              <a:rPr lang="en-US" dirty="0" err="1"/>
              <a:t>Devops</a:t>
            </a:r>
            <a:r>
              <a:rPr lang="en-US" dirty="0"/>
              <a:t> – Azure </a:t>
            </a:r>
            <a:r>
              <a:rPr lang="en-US" dirty="0" err="1"/>
              <a:t>Devops</a:t>
            </a:r>
            <a:r>
              <a:rPr lang="en-US" dirty="0"/>
              <a:t> integrated with GIT</a:t>
            </a:r>
          </a:p>
        </p:txBody>
      </p:sp>
    </p:spTree>
    <p:extLst>
      <p:ext uri="{BB962C8B-B14F-4D97-AF65-F5344CB8AC3E}">
        <p14:creationId xmlns:p14="http://schemas.microsoft.com/office/powerpoint/2010/main" val="1029710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organizations and subscription</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r>
              <a:rPr lang="en-US" dirty="0"/>
              <a:t>An organization represents a business entity that is using Microsoft cloud offerings, typically identified by one or more public Domain Name System (DNS) domain names, such as contoso.com. The organization is a container for subscriptions.</a:t>
            </a:r>
          </a:p>
          <a:p>
            <a:r>
              <a:rPr lang="en-US" dirty="0"/>
              <a:t>A subscription is an agreement with Microsoft to use one or more Microsoft cloud platforms or services, for which charges accrue based on either a per-user license fee or on cloud-based resource consumption.</a:t>
            </a:r>
          </a:p>
          <a:p>
            <a:pPr lvl="1"/>
            <a:r>
              <a:rPr lang="en-US" dirty="0"/>
              <a:t>Microsoft's Software as a Service (SaaS)-based cloud offerings (Microsoft 365 and Dynamics 365) charge per-user license fees.</a:t>
            </a:r>
          </a:p>
          <a:p>
            <a:pPr lvl="1"/>
            <a:r>
              <a:rPr lang="en-US" dirty="0"/>
              <a:t>Microsoft's Platform as a Service (PaaS) and Infrastructure as a Service (IaaS) cloud offerings (Azure) charge based on cloud resource consumption.</a:t>
            </a:r>
          </a:p>
          <a:p>
            <a:endParaRPr lang="en-US" dirty="0"/>
          </a:p>
        </p:txBody>
      </p:sp>
    </p:spTree>
    <p:extLst>
      <p:ext uri="{BB962C8B-B14F-4D97-AF65-F5344CB8AC3E}">
        <p14:creationId xmlns:p14="http://schemas.microsoft.com/office/powerpoint/2010/main" val="2878215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tenant</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r>
              <a:rPr lang="en-US" dirty="0"/>
              <a:t>For SaaS cloud offerings, the tenant is the regional location that houses the servers providing cloud services. For example, the Contoso Corporation chose the European region to host its Microsoft 365, EMS, and Dynamics 365 subscriptions for the 15,000 workers in their Paris headquarters.</a:t>
            </a:r>
          </a:p>
          <a:p>
            <a:r>
              <a:rPr lang="en-US" dirty="0"/>
              <a:t>Azure PaaS services and virtual machine-based workloads hosted in Azure IaaS can have tenancy in any Azure datacenter across the world. You specify the Azure datacenter, known as the location, when you create the Azure PaaS app or service or element of an IaaS workload.</a:t>
            </a:r>
          </a:p>
          <a:p>
            <a:r>
              <a:rPr lang="en-US" dirty="0"/>
              <a:t>An Azure AD tenant is a specific instance of Azure AD containing accounts and groups. Paid or trial subscriptions of Microsoft 365 or Dynamics 365 include a free Azure AD tenant. This Azure AD tenant does not include other Azure services and is not the same as an Azure trial or paid subscription.</a:t>
            </a:r>
          </a:p>
        </p:txBody>
      </p:sp>
    </p:spTree>
    <p:extLst>
      <p:ext uri="{BB962C8B-B14F-4D97-AF65-F5344CB8AC3E}">
        <p14:creationId xmlns:p14="http://schemas.microsoft.com/office/powerpoint/2010/main" val="667367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User accounts</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r>
              <a:rPr lang="en-US" dirty="0"/>
              <a:t>User accounts for all of Microsoft's cloud offerings are stored in an Azure Active Directory (Azure AD) tenant, which contains user accounts and groups.</a:t>
            </a:r>
          </a:p>
        </p:txBody>
      </p:sp>
    </p:spTree>
    <p:extLst>
      <p:ext uri="{BB962C8B-B14F-4D97-AF65-F5344CB8AC3E}">
        <p14:creationId xmlns:p14="http://schemas.microsoft.com/office/powerpoint/2010/main" val="3734067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Summary of the hierarchy</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normAutofit lnSpcReduction="10000"/>
          </a:bodyPr>
          <a:lstStyle/>
          <a:p>
            <a:r>
              <a:rPr lang="en-US" dirty="0"/>
              <a:t>Here is a quick recap:</a:t>
            </a:r>
          </a:p>
          <a:p>
            <a:pPr>
              <a:buFont typeface="Arial" panose="020B0604020202020204" pitchFamily="34" charset="0"/>
              <a:buChar char="•"/>
            </a:pPr>
            <a:r>
              <a:rPr lang="en-US" dirty="0"/>
              <a:t>An organization can have multiple subscriptions</a:t>
            </a:r>
          </a:p>
          <a:p>
            <a:pPr marL="742950" lvl="1" indent="-285750">
              <a:buFont typeface="Arial" panose="020B0604020202020204" pitchFamily="34" charset="0"/>
              <a:buChar char="•"/>
            </a:pPr>
            <a:r>
              <a:rPr lang="en-US" dirty="0"/>
              <a:t>A subscription can have multiple licenses</a:t>
            </a:r>
          </a:p>
          <a:p>
            <a:pPr marL="742950" lvl="1" indent="-285750">
              <a:buFont typeface="Arial" panose="020B0604020202020204" pitchFamily="34" charset="0"/>
              <a:buChar char="•"/>
            </a:pPr>
            <a:r>
              <a:rPr lang="en-US" dirty="0"/>
              <a:t>Licenses can be assigned to individual user accounts</a:t>
            </a:r>
          </a:p>
          <a:p>
            <a:pPr marL="742950" lvl="1" indent="-285750">
              <a:buFont typeface="Arial" panose="020B0604020202020204" pitchFamily="34" charset="0"/>
              <a:buChar char="•"/>
            </a:pPr>
            <a:r>
              <a:rPr lang="en-US" dirty="0"/>
              <a:t>User accounts are stored in an Azure AD tenant</a:t>
            </a:r>
          </a:p>
          <a:p>
            <a:r>
              <a:rPr lang="en-US" dirty="0"/>
              <a:t>Here is an example of the relationship of organizations, subscriptions, licenses, and user accounts:</a:t>
            </a:r>
          </a:p>
          <a:p>
            <a:pPr>
              <a:buFont typeface="Arial" panose="020B0604020202020204" pitchFamily="34" charset="0"/>
              <a:buChar char="•"/>
            </a:pPr>
            <a:r>
              <a:rPr lang="en-US" dirty="0"/>
              <a:t>An organization identified by its public domain name.</a:t>
            </a:r>
          </a:p>
          <a:p>
            <a:pPr marL="742950" lvl="1" indent="-285750">
              <a:buFont typeface="Arial" panose="020B0604020202020204" pitchFamily="34" charset="0"/>
              <a:buChar char="•"/>
            </a:pPr>
            <a:r>
              <a:rPr lang="en-US" dirty="0"/>
              <a:t>A Microsoft 365 E3 subscription with user licenses.</a:t>
            </a:r>
          </a:p>
          <a:p>
            <a:pPr marL="742950" lvl="1" indent="-285750">
              <a:buFont typeface="Arial" panose="020B0604020202020204" pitchFamily="34" charset="0"/>
              <a:buChar char="•"/>
            </a:pPr>
            <a:r>
              <a:rPr lang="en-US" dirty="0"/>
              <a:t>A Microsoft 365 E5 subscription with user licenses.</a:t>
            </a:r>
          </a:p>
          <a:p>
            <a:pPr marL="742950" lvl="1" indent="-285750">
              <a:buFont typeface="Arial" panose="020B0604020202020204" pitchFamily="34" charset="0"/>
              <a:buChar char="•"/>
            </a:pPr>
            <a:r>
              <a:rPr lang="en-US" dirty="0"/>
              <a:t>A Dynamics 365 subscription with user licenses.</a:t>
            </a:r>
          </a:p>
          <a:p>
            <a:pPr marL="742950" lvl="1" indent="-285750">
              <a:buFont typeface="Arial" panose="020B0604020202020204" pitchFamily="34" charset="0"/>
              <a:buChar char="•"/>
            </a:pPr>
            <a:r>
              <a:rPr lang="en-US" dirty="0"/>
              <a:t>Multiple Azure subscriptions.</a:t>
            </a:r>
          </a:p>
          <a:p>
            <a:pPr marL="742950" lvl="1" indent="-285750">
              <a:buFont typeface="Arial" panose="020B0604020202020204" pitchFamily="34" charset="0"/>
              <a:buChar char="•"/>
            </a:pPr>
            <a:r>
              <a:rPr lang="en-US" dirty="0"/>
              <a:t>The organization's user accounts in a common Azure AD tenant.</a:t>
            </a:r>
          </a:p>
          <a:p>
            <a:endParaRPr lang="en-US" dirty="0"/>
          </a:p>
        </p:txBody>
      </p:sp>
    </p:spTree>
    <p:extLst>
      <p:ext uri="{BB962C8B-B14F-4D97-AF65-F5344CB8AC3E}">
        <p14:creationId xmlns:p14="http://schemas.microsoft.com/office/powerpoint/2010/main" val="1165670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a:xfrm>
            <a:off x="1451580" y="804520"/>
            <a:ext cx="4176511" cy="1049235"/>
          </a:xfrm>
        </p:spPr>
        <p:txBody>
          <a:bodyPr>
            <a:normAutofit/>
          </a:bodyPr>
          <a:lstStyle/>
          <a:p>
            <a:r>
              <a:rPr lang="en-US" dirty="0"/>
              <a:t>AD</a:t>
            </a:r>
          </a:p>
        </p:txBody>
      </p:sp>
      <p:sp>
        <p:nvSpPr>
          <p:cNvPr id="14" name="Rectangle 13">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a:xfrm>
            <a:off x="1451581" y="2015732"/>
            <a:ext cx="4172212" cy="3450613"/>
          </a:xfrm>
        </p:spPr>
        <p:txBody>
          <a:bodyPr>
            <a:normAutofit/>
          </a:bodyPr>
          <a:lstStyle/>
          <a:p>
            <a:r>
              <a:rPr lang="en-US" dirty="0"/>
              <a:t>Multiple Microsoft cloud offering subscriptions can use the same Azure AD tenant that acts as a common identity provider. A central Azure AD tenant that contains the synchronized accounts of your on-premises AD DS provides cloud-based Identity as a Service (</a:t>
            </a:r>
            <a:r>
              <a:rPr lang="en-US" dirty="0" err="1"/>
              <a:t>IDaaS</a:t>
            </a:r>
            <a:r>
              <a:rPr lang="en-US" dirty="0"/>
              <a:t>) for your organization.</a:t>
            </a:r>
          </a:p>
        </p:txBody>
      </p:sp>
      <p:pic>
        <p:nvPicPr>
          <p:cNvPr id="5" name="Picture 4">
            <a:extLst>
              <a:ext uri="{FF2B5EF4-FFF2-40B4-BE49-F238E27FC236}">
                <a16:creationId xmlns:a16="http://schemas.microsoft.com/office/drawing/2014/main" id="{C6C44AA5-2497-47EC-BA90-11696DFE4D8B}"/>
              </a:ext>
            </a:extLst>
          </p:cNvPr>
          <p:cNvPicPr>
            <a:picLocks noChangeAspect="1"/>
          </p:cNvPicPr>
          <p:nvPr/>
        </p:nvPicPr>
        <p:blipFill>
          <a:blip r:embed="rId2"/>
          <a:stretch>
            <a:fillRect/>
          </a:stretch>
        </p:blipFill>
        <p:spPr>
          <a:xfrm>
            <a:off x="6094411" y="1393609"/>
            <a:ext cx="4960442" cy="3484710"/>
          </a:xfrm>
          <a:prstGeom prst="rect">
            <a:avLst/>
          </a:prstGeom>
        </p:spPr>
      </p:pic>
      <p:pic>
        <p:nvPicPr>
          <p:cNvPr id="16" name="Picture 15">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8" name="Straight Connector 17">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6769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Azure management groups</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r>
              <a:rPr lang="en-US" dirty="0"/>
              <a:t>If your organization has many Azure subscriptions, you may need a way to efficiently manage access, policies, and compliance for those subscriptions. Management groups provide a governance scope above subscriptions. You organize subscriptions into management groups; the governance conditions you apply cascade by inheritance to all associated subscriptions.</a:t>
            </a:r>
          </a:p>
          <a:p>
            <a:endParaRPr lang="en-US" dirty="0"/>
          </a:p>
          <a:p>
            <a:r>
              <a:rPr lang="en-US" dirty="0"/>
              <a:t>Management groups give you enterprise-grade management at scale no matter what type of subscriptions you might have. However, all subscriptions within a single management group must trust the same Azure Active Directory (Azure AD) tenant.</a:t>
            </a:r>
          </a:p>
          <a:p>
            <a:endParaRPr lang="en-US" dirty="0"/>
          </a:p>
          <a:p>
            <a:r>
              <a:rPr lang="en-US" dirty="0"/>
              <a:t>For example, you can apply policies to a management group that limits the regions available for virtual machine (VM) creation. This policy would be applied to all nested management groups, subscriptions, and resources, and allow VM creation only in authorized regions.</a:t>
            </a:r>
          </a:p>
        </p:txBody>
      </p:sp>
    </p:spTree>
    <p:extLst>
      <p:ext uri="{BB962C8B-B14F-4D97-AF65-F5344CB8AC3E}">
        <p14:creationId xmlns:p14="http://schemas.microsoft.com/office/powerpoint/2010/main" val="907695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Hierarchy of management groups and subscriptions</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r>
              <a:rPr lang="en-US" dirty="0"/>
              <a:t>You can build a flexible structure of management groups and subscriptions to organize your resources into a hierarchy for unified policy and access management. The following diagram shows an example of creating a hierarchy for governance using management groups</a:t>
            </a:r>
          </a:p>
        </p:txBody>
      </p:sp>
      <p:pic>
        <p:nvPicPr>
          <p:cNvPr id="5" name="Picture 4">
            <a:extLst>
              <a:ext uri="{FF2B5EF4-FFF2-40B4-BE49-F238E27FC236}">
                <a16:creationId xmlns:a16="http://schemas.microsoft.com/office/drawing/2014/main" id="{D495D5B0-A691-4552-BCFD-5AB570D9D412}"/>
              </a:ext>
            </a:extLst>
          </p:cNvPr>
          <p:cNvPicPr>
            <a:picLocks noChangeAspect="1"/>
          </p:cNvPicPr>
          <p:nvPr/>
        </p:nvPicPr>
        <p:blipFill>
          <a:blip r:embed="rId2"/>
          <a:stretch>
            <a:fillRect/>
          </a:stretch>
        </p:blipFill>
        <p:spPr>
          <a:xfrm>
            <a:off x="1700212" y="671512"/>
            <a:ext cx="8791575" cy="5514975"/>
          </a:xfrm>
          <a:prstGeom prst="rect">
            <a:avLst/>
          </a:prstGeom>
        </p:spPr>
      </p:pic>
    </p:spTree>
    <p:extLst>
      <p:ext uri="{BB962C8B-B14F-4D97-AF65-F5344CB8AC3E}">
        <p14:creationId xmlns:p14="http://schemas.microsoft.com/office/powerpoint/2010/main" val="4144603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r>
              <a:rPr lang="en-US" dirty="0"/>
              <a:t>You can create a hierarchy that applies a policy, for example, which limits VM locations to the West US region in the management group called "Production". This policy will inherit onto all the Enterprise Agreement (EA) subscriptions that are descendants of that management group and will apply to all VMs under those subscriptions.</a:t>
            </a:r>
          </a:p>
          <a:p>
            <a:r>
              <a:rPr lang="en-US" dirty="0"/>
              <a:t>Another scenario where you would use management groups is to provide user access to multiple subscriptions. By moving multiple subscriptions under that management group, you can create one Azure role assignment on the management group, which will inherit that access to all the subscriptions. One assignment on the management group can enable users to have access to everything they need instead of scripting Azure RBAC over different subscriptions.</a:t>
            </a:r>
          </a:p>
        </p:txBody>
      </p:sp>
    </p:spTree>
    <p:extLst>
      <p:ext uri="{BB962C8B-B14F-4D97-AF65-F5344CB8AC3E}">
        <p14:creationId xmlns:p14="http://schemas.microsoft.com/office/powerpoint/2010/main" val="972924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Root management group for each directory	</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normAutofit fontScale="92500" lnSpcReduction="20000"/>
          </a:bodyPr>
          <a:lstStyle/>
          <a:p>
            <a:r>
              <a:rPr lang="en-US" dirty="0"/>
              <a:t>Each directory is given a single top-level management group called the root management group. The root management group is built into the hierarchy to have all management groups and subscriptions fold up to it. This root management group allows for global policies and Azure role assignments to be applied at the directory level</a:t>
            </a:r>
          </a:p>
          <a:p>
            <a:r>
              <a:rPr lang="en-US" dirty="0"/>
              <a:t>The root management group can't be moved or deleted, unlike other management groups.</a:t>
            </a:r>
          </a:p>
          <a:p>
            <a:r>
              <a:rPr lang="en-US" dirty="0"/>
              <a:t>All subscriptions and management groups fold up to the one root management group within the directory.</a:t>
            </a:r>
          </a:p>
          <a:p>
            <a:pPr lvl="1"/>
            <a:r>
              <a:rPr lang="en-US" dirty="0"/>
              <a:t>All resources in the directory fold up to the root management group for global management.</a:t>
            </a:r>
          </a:p>
          <a:p>
            <a:pPr lvl="1"/>
            <a:r>
              <a:rPr lang="en-US" dirty="0"/>
              <a:t>New subscriptions are automatically defaulted to the root management group when created.</a:t>
            </a:r>
          </a:p>
          <a:p>
            <a:endParaRPr lang="en-US" dirty="0"/>
          </a:p>
          <a:p>
            <a:r>
              <a:rPr lang="en-US" dirty="0"/>
              <a:t>All Azure customers can see the root management group, but not all customers have access to manage that root management group.</a:t>
            </a:r>
          </a:p>
          <a:p>
            <a:pPr lvl="1"/>
            <a:r>
              <a:rPr lang="en-US" dirty="0"/>
              <a:t>Everyone who has access to a subscription can see the context of where that subscription is in the hierarchy.</a:t>
            </a:r>
          </a:p>
          <a:p>
            <a:pPr lvl="1"/>
            <a:r>
              <a:rPr lang="en-US" dirty="0"/>
              <a:t>No one is given default access to the root management group. Azure AD Global Administrators are the only users that can elevate themselves to gain access. Once they have access to the root management group, the global administrators can assign any Azure role to other users to manage it.</a:t>
            </a:r>
          </a:p>
          <a:p>
            <a:endParaRPr lang="en-US" dirty="0"/>
          </a:p>
          <a:p>
            <a:endParaRPr lang="en-US" dirty="0"/>
          </a:p>
        </p:txBody>
      </p:sp>
    </p:spTree>
    <p:extLst>
      <p:ext uri="{BB962C8B-B14F-4D97-AF65-F5344CB8AC3E}">
        <p14:creationId xmlns:p14="http://schemas.microsoft.com/office/powerpoint/2010/main" val="2097356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Regions and availability zones</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r>
              <a:rPr lang="en-US" dirty="0"/>
              <a:t>Region:</a:t>
            </a:r>
          </a:p>
          <a:p>
            <a:pPr lvl="1"/>
            <a:r>
              <a:rPr lang="en-US" dirty="0"/>
              <a:t>Each Azure region features datacenters deployed within a latency-defined perimeter. They're connected through a dedicated regional low-latency network. This design ensures that Azure services within any region offer the best possible performance and security.</a:t>
            </a:r>
          </a:p>
          <a:p>
            <a:r>
              <a:rPr lang="en-US" dirty="0"/>
              <a:t>Availability zones:</a:t>
            </a:r>
          </a:p>
          <a:p>
            <a:pPr lvl="1"/>
            <a:r>
              <a:rPr lang="en-US" dirty="0"/>
              <a:t>Availability zone is composed of one or more datacenters equipped with independent power, cooling, and networking infrastructure.</a:t>
            </a:r>
          </a:p>
          <a:p>
            <a:pPr lvl="1"/>
            <a:r>
              <a:rPr lang="en-US" dirty="0"/>
              <a:t>Azure availability zones are connected by a high-performance network with a round-trip latency of less than 2ms. They help your data stay synchronized and accessible when things go wrong.</a:t>
            </a:r>
          </a:p>
          <a:p>
            <a:pPr lvl="1"/>
            <a:r>
              <a:rPr lang="en-US" dirty="0"/>
              <a:t>Availability zones are designed so that if one zone is affected, regional services, capacity, and high availability are supported by the remaining two zones.</a:t>
            </a:r>
          </a:p>
          <a:p>
            <a:endParaRPr lang="en-US" dirty="0"/>
          </a:p>
        </p:txBody>
      </p:sp>
    </p:spTree>
    <p:extLst>
      <p:ext uri="{BB962C8B-B14F-4D97-AF65-F5344CB8AC3E}">
        <p14:creationId xmlns:p14="http://schemas.microsoft.com/office/powerpoint/2010/main" val="3134205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a:xfrm>
            <a:off x="1451580" y="804520"/>
            <a:ext cx="4176511" cy="1049235"/>
          </a:xfrm>
        </p:spPr>
        <p:txBody>
          <a:bodyPr>
            <a:normAutofit/>
          </a:bodyPr>
          <a:lstStyle/>
          <a:p>
            <a:r>
              <a:rPr lang="en-US" dirty="0"/>
              <a:t>Availability zone</a:t>
            </a:r>
          </a:p>
        </p:txBody>
      </p:sp>
      <p:sp>
        <p:nvSpPr>
          <p:cNvPr id="14" name="Rectangle 13">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a:xfrm>
            <a:off x="1451581" y="2015732"/>
            <a:ext cx="4172212" cy="3450613"/>
          </a:xfrm>
        </p:spPr>
        <p:txBody>
          <a:bodyPr>
            <a:normAutofit/>
          </a:bodyPr>
          <a:lstStyle/>
          <a:p>
            <a:pPr>
              <a:lnSpc>
                <a:spcPct val="110000"/>
              </a:lnSpc>
            </a:pPr>
            <a:r>
              <a:rPr lang="en-US" sz="1400"/>
              <a:t>Failures can range from software and hardware failures to events such as earthquakes, floods, and fires. Tolerance to failures is achieved because of redundancy and logical isolation of Azure services. To ensure resiliency, a minimum of three separate availability zones are present in all availability zone-enabled regions.</a:t>
            </a:r>
          </a:p>
          <a:p>
            <a:pPr>
              <a:lnSpc>
                <a:spcPct val="110000"/>
              </a:lnSpc>
            </a:pPr>
            <a:r>
              <a:rPr lang="en-US" sz="1400"/>
              <a:t>Each data center is assigned to a physical zone. Physical zones are mapped to logical zones in your Azure subscription. Azure subscriptions are automatically assigned this mapping at the time a subscription is created. </a:t>
            </a:r>
          </a:p>
        </p:txBody>
      </p:sp>
      <p:pic>
        <p:nvPicPr>
          <p:cNvPr id="5" name="Picture 4">
            <a:extLst>
              <a:ext uri="{FF2B5EF4-FFF2-40B4-BE49-F238E27FC236}">
                <a16:creationId xmlns:a16="http://schemas.microsoft.com/office/drawing/2014/main" id="{551F2933-5FA5-433C-9401-C5884A43F61A}"/>
              </a:ext>
            </a:extLst>
          </p:cNvPr>
          <p:cNvPicPr>
            <a:picLocks noChangeAspect="1"/>
          </p:cNvPicPr>
          <p:nvPr/>
        </p:nvPicPr>
        <p:blipFill>
          <a:blip r:embed="rId2"/>
          <a:stretch>
            <a:fillRect/>
          </a:stretch>
        </p:blipFill>
        <p:spPr>
          <a:xfrm>
            <a:off x="6094411" y="1647832"/>
            <a:ext cx="4960442" cy="2976264"/>
          </a:xfrm>
          <a:prstGeom prst="rect">
            <a:avLst/>
          </a:prstGeom>
        </p:spPr>
      </p:pic>
      <p:pic>
        <p:nvPicPr>
          <p:cNvPr id="16" name="Picture 15">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8" name="Straight Connector 17">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6588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Resource group</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r>
              <a:rPr lang="en-US" dirty="0"/>
              <a:t>A resource group is a container that holds related resources for an Azure solution. The resource group can include all the resources for the solution, or only those resources that you want to manage as a group. </a:t>
            </a:r>
          </a:p>
          <a:p>
            <a:r>
              <a:rPr lang="en-US" dirty="0"/>
              <a:t>You decide how you want to allocate resources to resource groups based on what makes the most sense for your organization. </a:t>
            </a:r>
          </a:p>
          <a:p>
            <a:r>
              <a:rPr lang="en-US" dirty="0"/>
              <a:t>Generally, add resources that share the same lifecycle to the same resource group so you can easily deploy, update, and delete them as a group.</a:t>
            </a:r>
          </a:p>
          <a:p>
            <a:r>
              <a:rPr lang="en-US" dirty="0"/>
              <a:t>The resource group stores metadata about the resources. Therefore, when you specify a location for the resource group, you are specifying where that metadata is stored. </a:t>
            </a:r>
          </a:p>
          <a:p>
            <a:r>
              <a:rPr lang="en-US" dirty="0"/>
              <a:t>For compliance reasons, you may need to ensure that your data is stored in a particular region.</a:t>
            </a:r>
          </a:p>
          <a:p>
            <a:endParaRPr lang="en-US" dirty="0"/>
          </a:p>
        </p:txBody>
      </p:sp>
    </p:spTree>
    <p:extLst>
      <p:ext uri="{BB962C8B-B14F-4D97-AF65-F5344CB8AC3E}">
        <p14:creationId xmlns:p14="http://schemas.microsoft.com/office/powerpoint/2010/main" val="715759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r>
              <a:rPr lang="en-US" dirty="0"/>
              <a:t>Create resource group</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normAutofit lnSpcReduction="10000"/>
          </a:bodyPr>
          <a:lstStyle/>
          <a:p>
            <a:r>
              <a:rPr lang="en-US" dirty="0"/>
              <a:t>Open Azure portal</a:t>
            </a:r>
          </a:p>
          <a:p>
            <a:r>
              <a:rPr lang="en-US" dirty="0"/>
              <a:t>Search for ‘Resource group’ /select ‘resource group</a:t>
            </a:r>
          </a:p>
          <a:p>
            <a:endParaRPr lang="en-US" dirty="0"/>
          </a:p>
          <a:p>
            <a:endParaRPr lang="en-US" dirty="0"/>
          </a:p>
          <a:p>
            <a:endParaRPr lang="en-US" dirty="0"/>
          </a:p>
          <a:p>
            <a:endParaRPr lang="en-US" dirty="0"/>
          </a:p>
          <a:p>
            <a:r>
              <a:rPr lang="en-US" dirty="0"/>
              <a:t>Select “ADD”</a:t>
            </a:r>
          </a:p>
          <a:p>
            <a:r>
              <a:rPr lang="en-US" dirty="0"/>
              <a:t>Enter the following.</a:t>
            </a:r>
          </a:p>
          <a:p>
            <a:pPr lvl="1"/>
            <a:r>
              <a:rPr lang="en-US" dirty="0" err="1"/>
              <a:t>Subscrition</a:t>
            </a:r>
            <a:r>
              <a:rPr lang="en-US" dirty="0"/>
              <a:t> : your azure subscription from dropdown</a:t>
            </a:r>
          </a:p>
          <a:p>
            <a:pPr lvl="1"/>
            <a:r>
              <a:rPr lang="en-US" dirty="0" err="1"/>
              <a:t>ResourceGroup</a:t>
            </a:r>
            <a:r>
              <a:rPr lang="en-US" dirty="0"/>
              <a:t>: Enter a new resource group name</a:t>
            </a:r>
          </a:p>
          <a:p>
            <a:pPr lvl="1"/>
            <a:r>
              <a:rPr lang="en-US" dirty="0"/>
              <a:t>Region : select desired region from the list of available regions</a:t>
            </a:r>
          </a:p>
          <a:p>
            <a:pPr lvl="1"/>
            <a:endParaRPr lang="en-US" dirty="0"/>
          </a:p>
        </p:txBody>
      </p:sp>
      <p:pic>
        <p:nvPicPr>
          <p:cNvPr id="5" name="Picture 4">
            <a:extLst>
              <a:ext uri="{FF2B5EF4-FFF2-40B4-BE49-F238E27FC236}">
                <a16:creationId xmlns:a16="http://schemas.microsoft.com/office/drawing/2014/main" id="{878DD4C0-5272-4392-8163-3BF24537BA96}"/>
              </a:ext>
            </a:extLst>
          </p:cNvPr>
          <p:cNvPicPr>
            <a:picLocks noChangeAspect="1"/>
          </p:cNvPicPr>
          <p:nvPr/>
        </p:nvPicPr>
        <p:blipFill>
          <a:blip r:embed="rId2"/>
          <a:stretch>
            <a:fillRect/>
          </a:stretch>
        </p:blipFill>
        <p:spPr>
          <a:xfrm>
            <a:off x="589533" y="1860844"/>
            <a:ext cx="2819492" cy="1783414"/>
          </a:xfrm>
          <a:prstGeom prst="rect">
            <a:avLst/>
          </a:prstGeom>
        </p:spPr>
      </p:pic>
    </p:spTree>
    <p:extLst>
      <p:ext uri="{BB962C8B-B14F-4D97-AF65-F5344CB8AC3E}">
        <p14:creationId xmlns:p14="http://schemas.microsoft.com/office/powerpoint/2010/main" val="408317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a:xfrm>
            <a:off x="124045" y="35511"/>
            <a:ext cx="11943909" cy="612728"/>
          </a:xfrm>
        </p:spPr>
        <p:txBody>
          <a:bodyPr/>
          <a:lstStyle/>
          <a:p>
            <a:r>
              <a:rPr lang="en-US" dirty="0"/>
              <a:t>Create resource group</a:t>
            </a:r>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r>
              <a:rPr lang="en-US" dirty="0"/>
              <a:t>Select “Review + Create” </a:t>
            </a:r>
          </a:p>
          <a:p>
            <a:r>
              <a:rPr lang="en-US" dirty="0"/>
              <a:t>Select create. It takes some time to create resource group. The same can be seen in notifications.</a:t>
            </a:r>
          </a:p>
          <a:p>
            <a:endParaRPr lang="en-US" dirty="0"/>
          </a:p>
          <a:p>
            <a:endParaRPr lang="en-US" dirty="0"/>
          </a:p>
          <a:p>
            <a:endParaRPr lang="en-US" dirty="0"/>
          </a:p>
          <a:p>
            <a:endParaRPr lang="en-US" dirty="0"/>
          </a:p>
          <a:p>
            <a:endParaRPr lang="en-US" dirty="0"/>
          </a:p>
          <a:p>
            <a:r>
              <a:rPr lang="en-US" dirty="0"/>
              <a:t>Once you see “Green Tick mark”, your resource group is created</a:t>
            </a:r>
          </a:p>
          <a:p>
            <a:r>
              <a:rPr lang="en-US" dirty="0"/>
              <a:t>You can view the same by going back to list of resource groups.</a:t>
            </a:r>
          </a:p>
          <a:p>
            <a:endParaRPr lang="en-US" dirty="0"/>
          </a:p>
          <a:p>
            <a:endParaRPr lang="en-US" dirty="0"/>
          </a:p>
        </p:txBody>
      </p:sp>
      <p:pic>
        <p:nvPicPr>
          <p:cNvPr id="5" name="Picture 4">
            <a:extLst>
              <a:ext uri="{FF2B5EF4-FFF2-40B4-BE49-F238E27FC236}">
                <a16:creationId xmlns:a16="http://schemas.microsoft.com/office/drawing/2014/main" id="{1267E394-D038-4E7C-87B9-7529B8513798}"/>
              </a:ext>
            </a:extLst>
          </p:cNvPr>
          <p:cNvPicPr>
            <a:picLocks noChangeAspect="1"/>
          </p:cNvPicPr>
          <p:nvPr/>
        </p:nvPicPr>
        <p:blipFill>
          <a:blip r:embed="rId2"/>
          <a:stretch>
            <a:fillRect/>
          </a:stretch>
        </p:blipFill>
        <p:spPr>
          <a:xfrm>
            <a:off x="905153" y="1971259"/>
            <a:ext cx="3542560" cy="2002045"/>
          </a:xfrm>
          <a:prstGeom prst="rect">
            <a:avLst/>
          </a:prstGeom>
        </p:spPr>
      </p:pic>
    </p:spTree>
    <p:extLst>
      <p:ext uri="{BB962C8B-B14F-4D97-AF65-F5344CB8AC3E}">
        <p14:creationId xmlns:p14="http://schemas.microsoft.com/office/powerpoint/2010/main" val="2646456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57461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0DCA-C617-44EB-B074-E8D8366742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D7FAED-C2A9-4E31-B1F0-7D3D47445C8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579808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107</TotalTime>
  <Words>1556</Words>
  <Application>Microsoft Office PowerPoint</Application>
  <PresentationFormat>Widescreen</PresentationFormat>
  <Paragraphs>97</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Gill Sans MT</vt:lpstr>
      <vt:lpstr>Gallery</vt:lpstr>
      <vt:lpstr>Azure basics</vt:lpstr>
      <vt:lpstr>PowerPoint Presentation</vt:lpstr>
      <vt:lpstr>organizations and subscription</vt:lpstr>
      <vt:lpstr>tenant</vt:lpstr>
      <vt:lpstr>User accounts</vt:lpstr>
      <vt:lpstr>Summary of the hierarchy</vt:lpstr>
      <vt:lpstr>AD</vt:lpstr>
      <vt:lpstr>Azure management groups</vt:lpstr>
      <vt:lpstr>Hierarchy of management groups and subscriptions</vt:lpstr>
      <vt:lpstr>PowerPoint Presentation</vt:lpstr>
      <vt:lpstr>Root management group for each directory </vt:lpstr>
      <vt:lpstr>Regions and availability zones</vt:lpstr>
      <vt:lpstr>Availability zone</vt:lpstr>
      <vt:lpstr>Resource group</vt:lpstr>
      <vt:lpstr>Create resource group</vt:lpstr>
      <vt:lpstr>Create resource group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choragudi phani sai sriram</dc:creator>
  <cp:lastModifiedBy>Sai Sriram Choragudi Phani (CR/RAI3-IN)</cp:lastModifiedBy>
  <cp:revision>94</cp:revision>
  <dcterms:created xsi:type="dcterms:W3CDTF">2021-07-20T06:51:37Z</dcterms:created>
  <dcterms:modified xsi:type="dcterms:W3CDTF">2023-05-09T16:49:24Z</dcterms:modified>
</cp:coreProperties>
</file>