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8" r:id="rId4"/>
    <p:sldId id="258" r:id="rId5"/>
    <p:sldId id="269" r:id="rId6"/>
    <p:sldId id="270" r:id="rId7"/>
    <p:sldId id="271" r:id="rId8"/>
    <p:sldId id="261" r:id="rId9"/>
    <p:sldId id="262" r:id="rId10"/>
    <p:sldId id="264" r:id="rId11"/>
    <p:sldId id="272" r:id="rId12"/>
    <p:sldId id="265" r:id="rId13"/>
    <p:sldId id="266" r:id="rId14"/>
    <p:sldId id="267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53867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972" y="1"/>
            <a:ext cx="11943909" cy="6127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2972" y="897587"/>
            <a:ext cx="11943909" cy="5062825"/>
          </a:xfrm>
        </p:spPr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3" name="Straight Connector 32"/>
          <p:cNvCxnSpPr>
            <a:cxnSpLocks/>
          </p:cNvCxnSpPr>
          <p:nvPr/>
        </p:nvCxnSpPr>
        <p:spPr>
          <a:xfrm>
            <a:off x="112972" y="706445"/>
            <a:ext cx="11943909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8785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25389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2822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2390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79125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082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39273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19846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19047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6944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DAC84B-8D09-4EFF-B4D3-9B8DCF29A5E8}" type="datetimeFigureOut">
              <a:rPr lang="en-US" smtClean="0"/>
              <a:t>2/12/2023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01E61C4-BA08-4E77-A1EC-44ADCDC62B6D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3635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404C9E-F517-44F0-B7FE-93F9BACED5D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Engineering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5586C7-7784-400E-808D-70AC90523D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3714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Data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data engineer transforms data into a useful format for analysis</a:t>
            </a:r>
          </a:p>
          <a:p>
            <a:endParaRPr lang="en-US" dirty="0"/>
          </a:p>
          <a:p>
            <a:endParaRPr lang="en-US" dirty="0"/>
          </a:p>
        </p:txBody>
      </p:sp>
      <p:pic>
        <p:nvPicPr>
          <p:cNvPr id="4" name="Picture 3" descr="A picture containing diagram&#10;&#10;Description automatically generated">
            <a:extLst>
              <a:ext uri="{FF2B5EF4-FFF2-40B4-BE49-F238E27FC236}">
                <a16:creationId xmlns:a16="http://schemas.microsoft.com/office/drawing/2014/main" id="{9083A256-6993-451D-9F94-3688A6A2F7F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926" y="1241349"/>
            <a:ext cx="4821551" cy="3616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80159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Data engineering Path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90556833-7384-4B20-9DA1-38AA4576D281}"/>
              </a:ext>
            </a:extLst>
          </p:cNvPr>
          <p:cNvGrpSpPr/>
          <p:nvPr/>
        </p:nvGrpSpPr>
        <p:grpSpPr>
          <a:xfrm>
            <a:off x="986345" y="980044"/>
            <a:ext cx="1537777" cy="819705"/>
            <a:chOff x="319596" y="1313895"/>
            <a:chExt cx="1100831" cy="66659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BB5A719-B140-418D-96AD-2E8A8758B1DF}"/>
                </a:ext>
              </a:extLst>
            </p:cNvPr>
            <p:cNvSpPr/>
            <p:nvPr/>
          </p:nvSpPr>
          <p:spPr>
            <a:xfrm>
              <a:off x="319596" y="1313895"/>
              <a:ext cx="1100831" cy="221942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Programming</a:t>
              </a:r>
            </a:p>
          </p:txBody>
        </p:sp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BC6C571B-AE00-4003-BBC6-B65ED940383D}"/>
                </a:ext>
              </a:extLst>
            </p:cNvPr>
            <p:cNvSpPr/>
            <p:nvPr/>
          </p:nvSpPr>
          <p:spPr>
            <a:xfrm>
              <a:off x="319596" y="1535837"/>
              <a:ext cx="1100831" cy="2219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Python</a:t>
              </a:r>
            </a:p>
          </p:txBody>
        </p:sp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FD05544-4A6E-4B66-A00F-23BB7474A704}"/>
                </a:ext>
              </a:extLst>
            </p:cNvPr>
            <p:cNvSpPr/>
            <p:nvPr/>
          </p:nvSpPr>
          <p:spPr>
            <a:xfrm>
              <a:off x="319596" y="1758552"/>
              <a:ext cx="1100831" cy="2219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Scala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600F4B6-09F6-417E-AC2B-1A4A24336C23}"/>
              </a:ext>
            </a:extLst>
          </p:cNvPr>
          <p:cNvGrpSpPr/>
          <p:nvPr/>
        </p:nvGrpSpPr>
        <p:grpSpPr>
          <a:xfrm>
            <a:off x="3698335" y="980044"/>
            <a:ext cx="1537778" cy="819705"/>
            <a:chOff x="319596" y="1313895"/>
            <a:chExt cx="1100831" cy="666599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C819252-14C4-4783-A433-9F7F55509079}"/>
                </a:ext>
              </a:extLst>
            </p:cNvPr>
            <p:cNvSpPr/>
            <p:nvPr/>
          </p:nvSpPr>
          <p:spPr>
            <a:xfrm>
              <a:off x="319596" y="1313895"/>
              <a:ext cx="1100831" cy="221942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/>
                <a:t>Database</a:t>
              </a:r>
            </a:p>
          </p:txBody>
        </p:sp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AF17BB08-DC30-43BF-A558-2B97C09D095E}"/>
                </a:ext>
              </a:extLst>
            </p:cNvPr>
            <p:cNvSpPr/>
            <p:nvPr/>
          </p:nvSpPr>
          <p:spPr>
            <a:xfrm>
              <a:off x="319596" y="1535837"/>
              <a:ext cx="1100831" cy="2219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SQL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BC75F10-9CB0-42A5-A5A4-87DA76F36347}"/>
                </a:ext>
              </a:extLst>
            </p:cNvPr>
            <p:cNvSpPr/>
            <p:nvPr/>
          </p:nvSpPr>
          <p:spPr>
            <a:xfrm>
              <a:off x="319596" y="1758552"/>
              <a:ext cx="1100831" cy="2219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MS SQL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76A99B9-E8C8-4C93-B4B8-3A8CBC47AB5B}"/>
              </a:ext>
            </a:extLst>
          </p:cNvPr>
          <p:cNvGrpSpPr/>
          <p:nvPr/>
        </p:nvGrpSpPr>
        <p:grpSpPr>
          <a:xfrm>
            <a:off x="986346" y="2208769"/>
            <a:ext cx="1537776" cy="819705"/>
            <a:chOff x="319596" y="1313895"/>
            <a:chExt cx="1100831" cy="666599"/>
          </a:xfrm>
        </p:grpSpPr>
        <p:sp>
          <p:nvSpPr>
            <p:cNvPr id="21" name="Rectangle: Rounded Corners 20">
              <a:extLst>
                <a:ext uri="{FF2B5EF4-FFF2-40B4-BE49-F238E27FC236}">
                  <a16:creationId xmlns:a16="http://schemas.microsoft.com/office/drawing/2014/main" id="{0CE4F682-60D4-466F-A6E4-9B2EF349A444}"/>
                </a:ext>
              </a:extLst>
            </p:cNvPr>
            <p:cNvSpPr/>
            <p:nvPr/>
          </p:nvSpPr>
          <p:spPr>
            <a:xfrm>
              <a:off x="319596" y="1313895"/>
              <a:ext cx="1100831" cy="221942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Cloud</a:t>
              </a: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2E71429D-2C6F-4AC6-88A1-40F3591478AE}"/>
                </a:ext>
              </a:extLst>
            </p:cNvPr>
            <p:cNvSpPr/>
            <p:nvPr/>
          </p:nvSpPr>
          <p:spPr>
            <a:xfrm>
              <a:off x="319596" y="1535837"/>
              <a:ext cx="1100831" cy="2219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Azure</a:t>
              </a:r>
            </a:p>
          </p:txBody>
        </p:sp>
        <p:sp>
          <p:nvSpPr>
            <p:cNvPr id="23" name="Rectangle: Rounded Corners 22">
              <a:extLst>
                <a:ext uri="{FF2B5EF4-FFF2-40B4-BE49-F238E27FC236}">
                  <a16:creationId xmlns:a16="http://schemas.microsoft.com/office/drawing/2014/main" id="{B43AD0F0-0F23-47B4-AC89-9313588C7157}"/>
                </a:ext>
              </a:extLst>
            </p:cNvPr>
            <p:cNvSpPr/>
            <p:nvPr/>
          </p:nvSpPr>
          <p:spPr>
            <a:xfrm>
              <a:off x="319596" y="1758552"/>
              <a:ext cx="1100831" cy="2219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Aws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18A4CF1-6941-41A1-B17A-6BCD62C5FAF0}"/>
              </a:ext>
            </a:extLst>
          </p:cNvPr>
          <p:cNvGrpSpPr/>
          <p:nvPr/>
        </p:nvGrpSpPr>
        <p:grpSpPr>
          <a:xfrm>
            <a:off x="3698334" y="3665347"/>
            <a:ext cx="1537776" cy="819705"/>
            <a:chOff x="319596" y="1313895"/>
            <a:chExt cx="1100831" cy="666599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D9C2C7A3-3DD6-4D0F-BC6E-504FF53757E8}"/>
                </a:ext>
              </a:extLst>
            </p:cNvPr>
            <p:cNvSpPr/>
            <p:nvPr/>
          </p:nvSpPr>
          <p:spPr>
            <a:xfrm>
              <a:off x="319596" y="1313895"/>
              <a:ext cx="1100831" cy="221942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Recent Trends</a:t>
              </a:r>
            </a:p>
          </p:txBody>
        </p:sp>
        <p:sp>
          <p:nvSpPr>
            <p:cNvPr id="26" name="Rectangle: Rounded Corners 25">
              <a:extLst>
                <a:ext uri="{FF2B5EF4-FFF2-40B4-BE49-F238E27FC236}">
                  <a16:creationId xmlns:a16="http://schemas.microsoft.com/office/drawing/2014/main" id="{D2A04FF6-4E96-4E85-B690-436431A50513}"/>
                </a:ext>
              </a:extLst>
            </p:cNvPr>
            <p:cNvSpPr/>
            <p:nvPr/>
          </p:nvSpPr>
          <p:spPr>
            <a:xfrm>
              <a:off x="319596" y="1535837"/>
              <a:ext cx="1100831" cy="2219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000" dirty="0">
                  <a:solidFill>
                    <a:schemeClr val="tx1"/>
                  </a:solidFill>
                </a:rPr>
                <a:t>Serverless Architecture</a:t>
              </a:r>
            </a:p>
          </p:txBody>
        </p:sp>
        <p:sp>
          <p:nvSpPr>
            <p:cNvPr id="27" name="Rectangle: Rounded Corners 26">
              <a:extLst>
                <a:ext uri="{FF2B5EF4-FFF2-40B4-BE49-F238E27FC236}">
                  <a16:creationId xmlns:a16="http://schemas.microsoft.com/office/drawing/2014/main" id="{40B3CCE5-1C98-4548-B9F2-19EE8F50D276}"/>
                </a:ext>
              </a:extLst>
            </p:cNvPr>
            <p:cNvSpPr/>
            <p:nvPr/>
          </p:nvSpPr>
          <p:spPr>
            <a:xfrm>
              <a:off x="319596" y="1758552"/>
              <a:ext cx="1100831" cy="2219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Hybrid Cloud</a:t>
              </a:r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C93CA0F2-F8F3-4247-B436-59F96A1D8267}"/>
              </a:ext>
            </a:extLst>
          </p:cNvPr>
          <p:cNvGrpSpPr/>
          <p:nvPr/>
        </p:nvGrpSpPr>
        <p:grpSpPr>
          <a:xfrm>
            <a:off x="995060" y="3674737"/>
            <a:ext cx="1537778" cy="819705"/>
            <a:chOff x="319596" y="1313895"/>
            <a:chExt cx="1100831" cy="666599"/>
          </a:xfrm>
        </p:grpSpPr>
        <p:sp>
          <p:nvSpPr>
            <p:cNvPr id="29" name="Rectangle: Rounded Corners 28">
              <a:extLst>
                <a:ext uri="{FF2B5EF4-FFF2-40B4-BE49-F238E27FC236}">
                  <a16:creationId xmlns:a16="http://schemas.microsoft.com/office/drawing/2014/main" id="{A4CAC011-65F6-4151-964C-9F04CC5C9AC3}"/>
                </a:ext>
              </a:extLst>
            </p:cNvPr>
            <p:cNvSpPr/>
            <p:nvPr/>
          </p:nvSpPr>
          <p:spPr>
            <a:xfrm>
              <a:off x="319596" y="1313895"/>
              <a:ext cx="1100831" cy="221942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Orchestration</a:t>
              </a:r>
            </a:p>
          </p:txBody>
        </p:sp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3666CDD5-DCB0-4685-99BF-3801078B1959}"/>
                </a:ext>
              </a:extLst>
            </p:cNvPr>
            <p:cNvSpPr/>
            <p:nvPr/>
          </p:nvSpPr>
          <p:spPr>
            <a:xfrm>
              <a:off x="319596" y="1535837"/>
              <a:ext cx="1100831" cy="2219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Databricks</a:t>
              </a:r>
            </a:p>
          </p:txBody>
        </p:sp>
        <p:sp>
          <p:nvSpPr>
            <p:cNvPr id="31" name="Rectangle: Rounded Corners 30">
              <a:extLst>
                <a:ext uri="{FF2B5EF4-FFF2-40B4-BE49-F238E27FC236}">
                  <a16:creationId xmlns:a16="http://schemas.microsoft.com/office/drawing/2014/main" id="{CFC0454C-A55F-464B-896C-8F9AE36E5E6D}"/>
                </a:ext>
              </a:extLst>
            </p:cNvPr>
            <p:cNvSpPr/>
            <p:nvPr/>
          </p:nvSpPr>
          <p:spPr>
            <a:xfrm>
              <a:off x="319596" y="1758552"/>
              <a:ext cx="1100831" cy="221942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ADF</a:t>
              </a: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89B2F0A8-23CA-4A61-98CC-F6CCFA59E1EA}"/>
              </a:ext>
            </a:extLst>
          </p:cNvPr>
          <p:cNvGrpSpPr/>
          <p:nvPr/>
        </p:nvGrpSpPr>
        <p:grpSpPr>
          <a:xfrm>
            <a:off x="3698334" y="2203916"/>
            <a:ext cx="1537779" cy="819705"/>
            <a:chOff x="2929446" y="2208769"/>
            <a:chExt cx="1356804" cy="819705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CA232404-E691-43CF-B3B0-26FD1502721C}"/>
                </a:ext>
              </a:extLst>
            </p:cNvPr>
            <p:cNvSpPr/>
            <p:nvPr/>
          </p:nvSpPr>
          <p:spPr>
            <a:xfrm>
              <a:off x="2929446" y="2208769"/>
              <a:ext cx="1356804" cy="272918"/>
            </a:xfrm>
            <a:prstGeom prst="roundRect">
              <a:avLst/>
            </a:prstGeom>
            <a:solidFill>
              <a:srgbClr val="0070C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400" dirty="0"/>
                <a:t>Data Processing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85B0105C-8457-4F6C-BE3B-6CD4E194F313}"/>
                </a:ext>
              </a:extLst>
            </p:cNvPr>
            <p:cNvSpPr/>
            <p:nvPr/>
          </p:nvSpPr>
          <p:spPr>
            <a:xfrm>
              <a:off x="2929446" y="2481687"/>
              <a:ext cx="1356804" cy="2729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Spark</a:t>
              </a:r>
            </a:p>
          </p:txBody>
        </p:sp>
        <p:sp>
          <p:nvSpPr>
            <p:cNvPr id="19" name="Rectangle: Rounded Corners 18">
              <a:extLst>
                <a:ext uri="{FF2B5EF4-FFF2-40B4-BE49-F238E27FC236}">
                  <a16:creationId xmlns:a16="http://schemas.microsoft.com/office/drawing/2014/main" id="{F696BB6B-64C9-42AD-A923-5F7D9F9F6CF9}"/>
                </a:ext>
              </a:extLst>
            </p:cNvPr>
            <p:cNvSpPr/>
            <p:nvPr/>
          </p:nvSpPr>
          <p:spPr>
            <a:xfrm>
              <a:off x="2929446" y="2755556"/>
              <a:ext cx="1356804" cy="272918"/>
            </a:xfrm>
            <a:prstGeom prst="round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200" dirty="0">
                  <a:solidFill>
                    <a:schemeClr val="tx1"/>
                  </a:solidFill>
                </a:rPr>
                <a:t>MPP Databases</a:t>
              </a:r>
            </a:p>
          </p:txBody>
        </p:sp>
      </p:grp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2CEF6306-5970-4A68-B8DF-37C85E698DAA}"/>
              </a:ext>
            </a:extLst>
          </p:cNvPr>
          <p:cNvCxnSpPr>
            <a:cxnSpLocks/>
            <a:endCxn id="14" idx="1"/>
          </p:cNvCxnSpPr>
          <p:nvPr/>
        </p:nvCxnSpPr>
        <p:spPr>
          <a:xfrm>
            <a:off x="2524122" y="1389421"/>
            <a:ext cx="1174213" cy="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FEDB99E8-7216-4487-AE52-A6F45DE9E6CE}"/>
              </a:ext>
            </a:extLst>
          </p:cNvPr>
          <p:cNvCxnSpPr>
            <a:cxnSpLocks/>
            <a:stCxn id="22" idx="3"/>
            <a:endCxn id="18" idx="1"/>
          </p:cNvCxnSpPr>
          <p:nvPr/>
        </p:nvCxnSpPr>
        <p:spPr>
          <a:xfrm flipV="1">
            <a:off x="2524122" y="2613293"/>
            <a:ext cx="1174212" cy="485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23D33734-6BE8-4EA5-A7C6-0B6D8CC4B111}"/>
              </a:ext>
            </a:extLst>
          </p:cNvPr>
          <p:cNvCxnSpPr>
            <a:cxnSpLocks/>
            <a:stCxn id="30" idx="3"/>
            <a:endCxn id="26" idx="1"/>
          </p:cNvCxnSpPr>
          <p:nvPr/>
        </p:nvCxnSpPr>
        <p:spPr>
          <a:xfrm flipV="1">
            <a:off x="2532838" y="4074724"/>
            <a:ext cx="1165496" cy="9390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F62021FB-43E2-43E9-BB72-FC86144F8A66}"/>
              </a:ext>
            </a:extLst>
          </p:cNvPr>
          <p:cNvCxnSpPr>
            <a:cxnSpLocks/>
            <a:stCxn id="15" idx="2"/>
            <a:endCxn id="17" idx="0"/>
          </p:cNvCxnSpPr>
          <p:nvPr/>
        </p:nvCxnSpPr>
        <p:spPr>
          <a:xfrm>
            <a:off x="4467224" y="1799749"/>
            <a:ext cx="0" cy="404167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16E99E6-3950-411E-AE8E-DB963209676A}"/>
              </a:ext>
            </a:extLst>
          </p:cNvPr>
          <p:cNvCxnSpPr>
            <a:cxnSpLocks/>
            <a:stCxn id="23" idx="2"/>
            <a:endCxn id="29" idx="0"/>
          </p:cNvCxnSpPr>
          <p:nvPr/>
        </p:nvCxnSpPr>
        <p:spPr>
          <a:xfrm>
            <a:off x="1755234" y="3028474"/>
            <a:ext cx="8715" cy="646263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E7FC4408-D536-43D5-ACD7-A2D8DF843350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4467222" y="4485052"/>
            <a:ext cx="0" cy="376075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E5F5DE1E-95F5-4881-85B6-616EB1D30098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755234" y="767603"/>
            <a:ext cx="0" cy="212441"/>
          </a:xfrm>
          <a:prstGeom prst="line">
            <a:avLst/>
          </a:prstGeom>
          <a:ln w="19050">
            <a:solidFill>
              <a:schemeClr val="tx1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281218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7331" y="868874"/>
            <a:ext cx="9605635" cy="1059305"/>
          </a:xfrm>
        </p:spPr>
        <p:txBody>
          <a:bodyPr/>
          <a:lstStyle/>
          <a:p>
            <a:r>
              <a:rPr lang="en-US" dirty="0"/>
              <a:t>Programming - Python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01C460-587C-4C40-9D5E-755FBCD492D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/>
              <a:t>Python Intro</a:t>
            </a:r>
          </a:p>
          <a:p>
            <a:r>
              <a:rPr lang="en-US" dirty="0"/>
              <a:t>Python Setup</a:t>
            </a:r>
          </a:p>
          <a:p>
            <a:r>
              <a:rPr lang="en-US" dirty="0"/>
              <a:t>Pip</a:t>
            </a:r>
          </a:p>
          <a:p>
            <a:r>
              <a:rPr lang="en-US" dirty="0"/>
              <a:t>Google </a:t>
            </a:r>
            <a:r>
              <a:rPr lang="en-US" dirty="0" err="1"/>
              <a:t>Colab</a:t>
            </a:r>
            <a:r>
              <a:rPr lang="en-US" dirty="0"/>
              <a:t> &amp; Databricks Community Edition</a:t>
            </a:r>
          </a:p>
          <a:p>
            <a:r>
              <a:rPr lang="en-US" dirty="0" err="1"/>
              <a:t>DataTypes</a:t>
            </a:r>
            <a:r>
              <a:rPr lang="en-US" dirty="0"/>
              <a:t> and Variables</a:t>
            </a:r>
          </a:p>
          <a:p>
            <a:r>
              <a:rPr lang="en-US" dirty="0"/>
              <a:t>String Operations</a:t>
            </a:r>
          </a:p>
          <a:p>
            <a:r>
              <a:rPr lang="en-US" dirty="0"/>
              <a:t>Loops and Conditional Statements</a:t>
            </a:r>
          </a:p>
          <a:p>
            <a:r>
              <a:rPr lang="en-US" dirty="0"/>
              <a:t>Collections</a:t>
            </a:r>
          </a:p>
          <a:p>
            <a:r>
              <a:rPr lang="en-US" dirty="0"/>
              <a:t>Python Functions</a:t>
            </a:r>
          </a:p>
          <a:p>
            <a:r>
              <a:rPr lang="en-US" dirty="0"/>
              <a:t>Anonymous Functions</a:t>
            </a:r>
          </a:p>
          <a:p>
            <a:r>
              <a:rPr lang="en-US" dirty="0"/>
              <a:t>Multi </a:t>
            </a:r>
            <a:r>
              <a:rPr lang="en-US" dirty="0" err="1"/>
              <a:t>processings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8BB41E9-83A1-4369-A185-7A07D085F0B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dirty="0" err="1"/>
              <a:t>flatmap</a:t>
            </a:r>
            <a:endParaRPr lang="en-US" dirty="0"/>
          </a:p>
          <a:p>
            <a:r>
              <a:rPr lang="en-US" dirty="0"/>
              <a:t>Oops with Python</a:t>
            </a:r>
          </a:p>
          <a:p>
            <a:r>
              <a:rPr lang="en-US" dirty="0"/>
              <a:t>Magic </a:t>
            </a:r>
            <a:r>
              <a:rPr lang="en-US" dirty="0" err="1"/>
              <a:t>Dunder</a:t>
            </a:r>
            <a:r>
              <a:rPr lang="en-US" dirty="0"/>
              <a:t> Methods</a:t>
            </a:r>
          </a:p>
          <a:p>
            <a:r>
              <a:rPr lang="en-US" dirty="0"/>
              <a:t>Positional/inline parameters</a:t>
            </a:r>
          </a:p>
          <a:p>
            <a:r>
              <a:rPr lang="en-US" dirty="0" err="1"/>
              <a:t>os</a:t>
            </a:r>
            <a:r>
              <a:rPr lang="en-US" dirty="0"/>
              <a:t> and sys modules</a:t>
            </a:r>
          </a:p>
          <a:p>
            <a:r>
              <a:rPr lang="en-US" dirty="0"/>
              <a:t>beautiful soap &amp; </a:t>
            </a:r>
            <a:r>
              <a:rPr lang="en-US" dirty="0" err="1"/>
              <a:t>lmlxl</a:t>
            </a:r>
            <a:endParaRPr lang="en-US" dirty="0"/>
          </a:p>
          <a:p>
            <a:r>
              <a:rPr lang="en-US" dirty="0"/>
              <a:t>datetime operations</a:t>
            </a:r>
          </a:p>
          <a:p>
            <a:r>
              <a:rPr lang="en-US" dirty="0"/>
              <a:t>Logging</a:t>
            </a:r>
          </a:p>
          <a:p>
            <a:r>
              <a:rPr lang="en-US" dirty="0"/>
              <a:t>Multi Threads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4182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904F55-CCCC-4E3D-A2D2-37F918D8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Intro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Autofit/>
          </a:bodyPr>
          <a:lstStyle/>
          <a:p>
            <a:r>
              <a:rPr lang="en-US" sz="1400" dirty="0"/>
              <a:t>What is RDBMS</a:t>
            </a:r>
          </a:p>
          <a:p>
            <a:r>
              <a:rPr lang="en-US" sz="1400" dirty="0"/>
              <a:t>What is SQL</a:t>
            </a:r>
          </a:p>
          <a:p>
            <a:r>
              <a:rPr lang="en-US" sz="1400" dirty="0"/>
              <a:t>What is a database</a:t>
            </a:r>
          </a:p>
          <a:p>
            <a:r>
              <a:rPr lang="en-US" sz="1400" dirty="0"/>
              <a:t>what is a schema</a:t>
            </a:r>
          </a:p>
          <a:p>
            <a:r>
              <a:rPr lang="en-US" sz="1400" dirty="0"/>
              <a:t>What is Table</a:t>
            </a:r>
          </a:p>
          <a:p>
            <a:r>
              <a:rPr lang="en-US" sz="1400" dirty="0"/>
              <a:t>What are Datatype</a:t>
            </a:r>
          </a:p>
          <a:p>
            <a:r>
              <a:rPr lang="en-US" sz="1400" dirty="0"/>
              <a:t>Types - DDL,DML,DCL- </a:t>
            </a:r>
          </a:p>
          <a:p>
            <a:r>
              <a:rPr lang="en-US" sz="1400" dirty="0"/>
              <a:t>What are tables</a:t>
            </a:r>
          </a:p>
          <a:p>
            <a:r>
              <a:rPr lang="en-US" sz="1400" dirty="0"/>
              <a:t>constraints on table : Primary Key, foreign key, unique </a:t>
            </a:r>
            <a:r>
              <a:rPr lang="en-US" sz="1400" dirty="0" err="1"/>
              <a:t>key,not</a:t>
            </a:r>
            <a:r>
              <a:rPr lang="en-US" sz="1400" dirty="0"/>
              <a:t> null</a:t>
            </a:r>
          </a:p>
          <a:p>
            <a:endParaRPr lang="en-US" sz="1400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3099C1-F8C2-40D3-BA3E-295477C0BA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Autofit/>
          </a:bodyPr>
          <a:lstStyle/>
          <a:p>
            <a:r>
              <a:rPr lang="en-US" sz="1600" dirty="0"/>
              <a:t>Auto Increment</a:t>
            </a:r>
          </a:p>
          <a:p>
            <a:r>
              <a:rPr lang="en-US" sz="1600" dirty="0"/>
              <a:t>What is a relation</a:t>
            </a:r>
          </a:p>
          <a:p>
            <a:r>
              <a:rPr lang="en-US" sz="1600" dirty="0" err="1"/>
              <a:t>Sql</a:t>
            </a:r>
            <a:r>
              <a:rPr lang="en-US" sz="1600" dirty="0"/>
              <a:t> Syntaxes : Select, insert, update and delete</a:t>
            </a:r>
          </a:p>
          <a:p>
            <a:r>
              <a:rPr lang="en-US" sz="1600" dirty="0"/>
              <a:t>Data types and 	Type casting</a:t>
            </a:r>
          </a:p>
          <a:p>
            <a:r>
              <a:rPr lang="en-US" sz="1600" dirty="0"/>
              <a:t>Sorting Data - Order by</a:t>
            </a:r>
          </a:p>
          <a:p>
            <a:r>
              <a:rPr lang="en-US" sz="1600" dirty="0"/>
              <a:t>Filtering data - Where condition</a:t>
            </a:r>
          </a:p>
          <a:p>
            <a:r>
              <a:rPr lang="en-US" sz="1600" dirty="0"/>
              <a:t>Distinct Data</a:t>
            </a:r>
          </a:p>
          <a:p>
            <a:r>
              <a:rPr lang="en-US" sz="1600" dirty="0"/>
              <a:t>Limiting Data</a:t>
            </a:r>
          </a:p>
          <a:p>
            <a:r>
              <a:rPr lang="en-US" sz="1600" dirty="0"/>
              <a:t>Top n rows</a:t>
            </a:r>
          </a:p>
          <a:p>
            <a:r>
              <a:rPr lang="en-US" sz="1600" dirty="0"/>
              <a:t>Aliases (column and Table aliases)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5026206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904F55-CCCC-4E3D-A2D2-37F918D8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SQL Operations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Operators : </a:t>
            </a:r>
          </a:p>
          <a:p>
            <a:pPr lvl="1"/>
            <a:r>
              <a:rPr lang="en-US" dirty="0"/>
              <a:t>Comparison Operators: =,!=,&lt;,&lt;=,&gt;,&gt;=</a:t>
            </a:r>
          </a:p>
          <a:p>
            <a:pPr lvl="1"/>
            <a:r>
              <a:rPr lang="en-US" dirty="0"/>
              <a:t>Logical Operators : </a:t>
            </a:r>
            <a:r>
              <a:rPr lang="en-US" dirty="0" err="1"/>
              <a:t>And,OR,BETWEEN,EXISTS,LIKE,NOT,IS</a:t>
            </a:r>
            <a:r>
              <a:rPr lang="en-US" dirty="0"/>
              <a:t> NULL,IN.</a:t>
            </a:r>
          </a:p>
          <a:p>
            <a:r>
              <a:rPr lang="en-US" dirty="0"/>
              <a:t>Aliases</a:t>
            </a:r>
          </a:p>
          <a:p>
            <a:r>
              <a:rPr lang="en-US" dirty="0"/>
              <a:t>case statement : in select </a:t>
            </a:r>
            <a:r>
              <a:rPr lang="en-US" dirty="0" err="1"/>
              <a:t>cluase</a:t>
            </a:r>
            <a:r>
              <a:rPr lang="en-US" dirty="0"/>
              <a:t> and where clause, using case statement to convert rows to columns </a:t>
            </a:r>
          </a:p>
          <a:p>
            <a:r>
              <a:rPr lang="en-US" dirty="0"/>
              <a:t>datetime conversions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3099C1-F8C2-40D3-BA3E-295477C0BA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string functions : </a:t>
            </a:r>
            <a:r>
              <a:rPr lang="en-US" dirty="0" err="1"/>
              <a:t>substring,char_index,datetime</a:t>
            </a:r>
            <a:r>
              <a:rPr lang="en-US" dirty="0"/>
              <a:t> </a:t>
            </a:r>
            <a:r>
              <a:rPr lang="en-US" dirty="0" err="1"/>
              <a:t>conversions,ltrim,rtrim,trim,upper,lower,length</a:t>
            </a:r>
            <a:r>
              <a:rPr lang="en-US" dirty="0"/>
              <a:t> of string</a:t>
            </a:r>
          </a:p>
          <a:p>
            <a:r>
              <a:rPr lang="en-US" dirty="0"/>
              <a:t>Aggregations : AVG,COUNT,MIN,MAX,SUM</a:t>
            </a:r>
          </a:p>
          <a:p>
            <a:r>
              <a:rPr lang="en-US" dirty="0"/>
              <a:t>Group by: </a:t>
            </a:r>
          </a:p>
          <a:p>
            <a:r>
              <a:rPr lang="en-US" dirty="0"/>
              <a:t>Having</a:t>
            </a:r>
          </a:p>
          <a:p>
            <a:r>
              <a:rPr lang="en-US" dirty="0"/>
              <a:t>Where vs Having</a:t>
            </a:r>
          </a:p>
          <a:p>
            <a:r>
              <a:rPr lang="en-US" dirty="0"/>
              <a:t>subqueries</a:t>
            </a:r>
          </a:p>
          <a:p>
            <a:r>
              <a:rPr lang="en-US" dirty="0"/>
              <a:t>corelated sub queries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1951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FF904F55-CCCC-4E3D-A2D2-37F918D87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Advanced SQL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Operations between two tables : </a:t>
            </a:r>
          </a:p>
          <a:p>
            <a:pPr lvl="1"/>
            <a:r>
              <a:rPr lang="en-US" dirty="0"/>
              <a:t>Inner join, outer joins(</a:t>
            </a:r>
            <a:r>
              <a:rPr lang="en-US" dirty="0" err="1"/>
              <a:t>left,right,cross</a:t>
            </a:r>
            <a:r>
              <a:rPr lang="en-US" dirty="0"/>
              <a:t>)</a:t>
            </a:r>
          </a:p>
          <a:p>
            <a:pPr lvl="1"/>
            <a:r>
              <a:rPr lang="en-US" dirty="0"/>
              <a:t>union and </a:t>
            </a:r>
            <a:r>
              <a:rPr lang="en-US" dirty="0" err="1"/>
              <a:t>unionall</a:t>
            </a:r>
            <a:endParaRPr lang="en-US" dirty="0"/>
          </a:p>
          <a:p>
            <a:pPr lvl="1"/>
            <a:r>
              <a:rPr lang="en-US" dirty="0"/>
              <a:t>EXISTS and NOT EXISTS</a:t>
            </a:r>
          </a:p>
          <a:p>
            <a:r>
              <a:rPr lang="en-US" dirty="0"/>
              <a:t>Window Functions : </a:t>
            </a:r>
            <a:r>
              <a:rPr lang="en-US" dirty="0" err="1"/>
              <a:t>Rank,Row_number,dense_rank,max,min,sum,lead</a:t>
            </a:r>
            <a:r>
              <a:rPr lang="en-US" dirty="0"/>
              <a:t> and lag</a:t>
            </a:r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A3099C1-F8C2-40D3-BA3E-295477C0BA1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Group by Vs Partition by</a:t>
            </a:r>
          </a:p>
          <a:p>
            <a:r>
              <a:rPr lang="en-US" dirty="0"/>
              <a:t>CTE example</a:t>
            </a:r>
          </a:p>
          <a:p>
            <a:r>
              <a:rPr lang="en-US" dirty="0"/>
              <a:t>pivot and unpivot example</a:t>
            </a:r>
          </a:p>
          <a:p>
            <a:r>
              <a:rPr lang="en-US" dirty="0"/>
              <a:t>Merge</a:t>
            </a:r>
          </a:p>
          <a:p>
            <a:r>
              <a:rPr lang="en-US" dirty="0"/>
              <a:t>Temp Tables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10987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spark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Spark Introduction</a:t>
            </a:r>
          </a:p>
          <a:p>
            <a:r>
              <a:rPr lang="en-US" dirty="0"/>
              <a:t>Spark Core</a:t>
            </a:r>
          </a:p>
          <a:p>
            <a:r>
              <a:rPr lang="en-US" dirty="0" err="1"/>
              <a:t>Pyspark</a:t>
            </a:r>
            <a:r>
              <a:rPr lang="en-US" dirty="0"/>
              <a:t> Architecture</a:t>
            </a:r>
          </a:p>
          <a:p>
            <a:r>
              <a:rPr lang="en-US" dirty="0"/>
              <a:t>Spark SQL</a:t>
            </a:r>
          </a:p>
          <a:p>
            <a:r>
              <a:rPr lang="en-US" dirty="0"/>
              <a:t>Different types of File Formats : Parquet, Avro, </a:t>
            </a:r>
            <a:r>
              <a:rPr lang="en-US" dirty="0" err="1"/>
              <a:t>Json,CSV</a:t>
            </a:r>
            <a:endParaRPr lang="en-US" dirty="0"/>
          </a:p>
          <a:p>
            <a:r>
              <a:rPr lang="en-US" dirty="0"/>
              <a:t>Spark UI</a:t>
            </a:r>
          </a:p>
          <a:p>
            <a:r>
              <a:rPr lang="en-US" dirty="0" err="1"/>
              <a:t>Dataframe</a:t>
            </a:r>
            <a:r>
              <a:rPr lang="en-US" dirty="0"/>
              <a:t> And Dataset</a:t>
            </a:r>
          </a:p>
          <a:p>
            <a:r>
              <a:rPr lang="en-US" dirty="0" err="1"/>
              <a:t>Dataframe</a:t>
            </a:r>
            <a:r>
              <a:rPr lang="en-US" dirty="0"/>
              <a:t> Operations</a:t>
            </a:r>
          </a:p>
          <a:p>
            <a:r>
              <a:rPr lang="en-US" dirty="0"/>
              <a:t>Optimizations in Spark</a:t>
            </a:r>
          </a:p>
          <a:p>
            <a:r>
              <a:rPr lang="en-US" dirty="0"/>
              <a:t>Spark Structured Streaming</a:t>
            </a:r>
          </a:p>
        </p:txBody>
      </p:sp>
    </p:spTree>
    <p:extLst>
      <p:ext uri="{BB962C8B-B14F-4D97-AF65-F5344CB8AC3E}">
        <p14:creationId xmlns:p14="http://schemas.microsoft.com/office/powerpoint/2010/main" val="14082194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Cloud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What is Cloud Computing</a:t>
            </a:r>
          </a:p>
          <a:p>
            <a:r>
              <a:rPr lang="en-US" dirty="0" err="1"/>
              <a:t>Onprem</a:t>
            </a:r>
            <a:r>
              <a:rPr lang="en-US" dirty="0"/>
              <a:t> Vs cloud</a:t>
            </a:r>
          </a:p>
          <a:p>
            <a:r>
              <a:rPr lang="en-US" dirty="0"/>
              <a:t>IAAS</a:t>
            </a:r>
          </a:p>
          <a:p>
            <a:r>
              <a:rPr lang="en-US" dirty="0"/>
              <a:t>PAAS</a:t>
            </a:r>
          </a:p>
          <a:p>
            <a:r>
              <a:rPr lang="en-US" dirty="0"/>
              <a:t>SAAS</a:t>
            </a:r>
          </a:p>
        </p:txBody>
      </p:sp>
    </p:spTree>
    <p:extLst>
      <p:ext uri="{BB962C8B-B14F-4D97-AF65-F5344CB8AC3E}">
        <p14:creationId xmlns:p14="http://schemas.microsoft.com/office/powerpoint/2010/main" val="18201431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Azure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What is Azure</a:t>
            </a:r>
          </a:p>
          <a:p>
            <a:r>
              <a:rPr lang="en-US" dirty="0"/>
              <a:t>Services in Azure</a:t>
            </a:r>
          </a:p>
          <a:p>
            <a:r>
              <a:rPr lang="en-US" dirty="0"/>
              <a:t>Azure Accounts</a:t>
            </a:r>
          </a:p>
          <a:p>
            <a:r>
              <a:rPr lang="en-US" dirty="0"/>
              <a:t>Azure Tenants and Subscriptions</a:t>
            </a:r>
          </a:p>
          <a:p>
            <a:r>
              <a:rPr lang="en-US" dirty="0"/>
              <a:t>Azure Regions and Resource Manager</a:t>
            </a:r>
          </a:p>
          <a:p>
            <a:r>
              <a:rPr lang="en-US" dirty="0"/>
              <a:t>Azure Active Directory</a:t>
            </a:r>
          </a:p>
          <a:p>
            <a:r>
              <a:rPr lang="en-US" dirty="0"/>
              <a:t>Azure Storage</a:t>
            </a:r>
          </a:p>
          <a:p>
            <a:r>
              <a:rPr lang="en-US" dirty="0"/>
              <a:t>Azure Compute Services</a:t>
            </a:r>
          </a:p>
          <a:p>
            <a:r>
              <a:rPr lang="en-US" dirty="0"/>
              <a:t>Azure </a:t>
            </a:r>
            <a:r>
              <a:rPr lang="en-US" dirty="0" err="1"/>
              <a:t>Datalake</a:t>
            </a:r>
            <a:r>
              <a:rPr lang="en-US" dirty="0"/>
              <a:t> Gen2</a:t>
            </a:r>
          </a:p>
          <a:p>
            <a:r>
              <a:rPr lang="en-US" dirty="0"/>
              <a:t>Azure Security Services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7B552-9AF7-4EC0-AAF3-546C97C37F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Azure </a:t>
            </a:r>
            <a:r>
              <a:rPr lang="en-US" dirty="0" err="1"/>
              <a:t>Datafactory</a:t>
            </a:r>
            <a:endParaRPr lang="en-US" dirty="0"/>
          </a:p>
          <a:p>
            <a:r>
              <a:rPr lang="en-US" dirty="0"/>
              <a:t>Azure Databricks</a:t>
            </a:r>
          </a:p>
          <a:p>
            <a:r>
              <a:rPr lang="en-US" dirty="0"/>
              <a:t>Azure SQL</a:t>
            </a:r>
          </a:p>
          <a:p>
            <a:r>
              <a:rPr lang="en-US" dirty="0"/>
              <a:t>Azure VM</a:t>
            </a:r>
          </a:p>
          <a:p>
            <a:r>
              <a:rPr lang="en-US" dirty="0"/>
              <a:t>Azure Synapse(Introduction)</a:t>
            </a:r>
          </a:p>
          <a:p>
            <a:r>
              <a:rPr lang="en-US" dirty="0"/>
              <a:t>Azure </a:t>
            </a:r>
            <a:r>
              <a:rPr lang="en-US" dirty="0" err="1"/>
              <a:t>CosmosDB</a:t>
            </a:r>
            <a:r>
              <a:rPr lang="en-US" dirty="0"/>
              <a:t>(Introduction)</a:t>
            </a:r>
          </a:p>
          <a:p>
            <a:r>
              <a:rPr lang="en-US" dirty="0"/>
              <a:t>Azure Functions</a:t>
            </a:r>
          </a:p>
          <a:p>
            <a:r>
              <a:rPr lang="en-US" dirty="0"/>
              <a:t>Azure Logic Apps</a:t>
            </a:r>
          </a:p>
        </p:txBody>
      </p:sp>
    </p:spTree>
    <p:extLst>
      <p:ext uri="{BB962C8B-B14F-4D97-AF65-F5344CB8AC3E}">
        <p14:creationId xmlns:p14="http://schemas.microsoft.com/office/powerpoint/2010/main" val="3045919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Azure - Basics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What is Azure</a:t>
            </a:r>
          </a:p>
          <a:p>
            <a:r>
              <a:rPr lang="en-US" dirty="0"/>
              <a:t>Services in Azure</a:t>
            </a:r>
          </a:p>
          <a:p>
            <a:r>
              <a:rPr lang="en-US" dirty="0"/>
              <a:t>Azure Accounts</a:t>
            </a:r>
          </a:p>
          <a:p>
            <a:r>
              <a:rPr lang="en-US" dirty="0"/>
              <a:t>Azure Tenants and Subscriptions</a:t>
            </a:r>
          </a:p>
          <a:p>
            <a:r>
              <a:rPr lang="en-US" dirty="0"/>
              <a:t>Azure Regions and Resource Manager</a:t>
            </a:r>
          </a:p>
          <a:p>
            <a:r>
              <a:rPr lang="en-US" dirty="0"/>
              <a:t>Azure Active Directory</a:t>
            </a:r>
          </a:p>
          <a:p>
            <a:r>
              <a:rPr lang="en-US" dirty="0"/>
              <a:t>Azure Storage</a:t>
            </a:r>
          </a:p>
          <a:p>
            <a:r>
              <a:rPr lang="en-US" dirty="0"/>
              <a:t>Azure Compute Services</a:t>
            </a:r>
          </a:p>
          <a:p>
            <a:r>
              <a:rPr lang="en-US" dirty="0"/>
              <a:t>Azure </a:t>
            </a:r>
            <a:r>
              <a:rPr lang="en-US" dirty="0" err="1"/>
              <a:t>Datalake</a:t>
            </a:r>
            <a:r>
              <a:rPr lang="en-US" dirty="0"/>
              <a:t> Gen2</a:t>
            </a:r>
          </a:p>
          <a:p>
            <a:r>
              <a:rPr lang="en-US" dirty="0"/>
              <a:t>Azure Security Services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67B552-9AF7-4EC0-AAF3-546C97C37F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Azure </a:t>
            </a:r>
            <a:r>
              <a:rPr lang="en-US" dirty="0" err="1"/>
              <a:t>Datafactory</a:t>
            </a:r>
            <a:endParaRPr lang="en-US" dirty="0"/>
          </a:p>
          <a:p>
            <a:r>
              <a:rPr lang="en-US" dirty="0"/>
              <a:t>Azure Databricks</a:t>
            </a:r>
          </a:p>
          <a:p>
            <a:r>
              <a:rPr lang="en-US" dirty="0"/>
              <a:t>Azure SQL</a:t>
            </a:r>
          </a:p>
          <a:p>
            <a:r>
              <a:rPr lang="en-US" dirty="0"/>
              <a:t>Azure VM</a:t>
            </a:r>
          </a:p>
          <a:p>
            <a:r>
              <a:rPr lang="en-US" dirty="0"/>
              <a:t>Azure Synapse(Introduction)</a:t>
            </a:r>
          </a:p>
          <a:p>
            <a:r>
              <a:rPr lang="en-US" dirty="0"/>
              <a:t>Azure </a:t>
            </a:r>
            <a:r>
              <a:rPr lang="en-US" dirty="0" err="1"/>
              <a:t>CosmosDB</a:t>
            </a:r>
            <a:r>
              <a:rPr lang="en-US" dirty="0"/>
              <a:t>(Introduction)</a:t>
            </a:r>
          </a:p>
          <a:p>
            <a:r>
              <a:rPr lang="en-US" dirty="0"/>
              <a:t>Azure Functions</a:t>
            </a:r>
          </a:p>
          <a:p>
            <a:r>
              <a:rPr lang="en-US" dirty="0"/>
              <a:t>Azure Logic Apps</a:t>
            </a:r>
          </a:p>
        </p:txBody>
      </p:sp>
    </p:spTree>
    <p:extLst>
      <p:ext uri="{BB962C8B-B14F-4D97-AF65-F5344CB8AC3E}">
        <p14:creationId xmlns:p14="http://schemas.microsoft.com/office/powerpoint/2010/main" val="121525808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04698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90775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0C0DCA-C617-44EB-B074-E8D8366742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D7FAED-C2A9-4E31-B1F0-7D3D47445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971098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97</TotalTime>
  <Words>508</Words>
  <Application>Microsoft Office PowerPoint</Application>
  <PresentationFormat>Widescreen</PresentationFormat>
  <Paragraphs>145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Gill Sans MT</vt:lpstr>
      <vt:lpstr>Gallery</vt:lpstr>
      <vt:lpstr>Data Engineering</vt:lpstr>
      <vt:lpstr>What is Data Engineering</vt:lpstr>
      <vt:lpstr>Data engineering Path</vt:lpstr>
      <vt:lpstr>Programming - Python</vt:lpstr>
      <vt:lpstr>SQL Intro</vt:lpstr>
      <vt:lpstr>SQL Operations</vt:lpstr>
      <vt:lpstr>Advanced SQL</vt:lpstr>
      <vt:lpstr>spark</vt:lpstr>
      <vt:lpstr>Cloud computing</vt:lpstr>
      <vt:lpstr>Azure</vt:lpstr>
      <vt:lpstr>Azure - Basics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choragudi phani sai sriram</dc:creator>
  <cp:lastModifiedBy>Sai Sriram Choragudi Phani (CR/RAI3-IN)</cp:lastModifiedBy>
  <cp:revision>48</cp:revision>
  <dcterms:created xsi:type="dcterms:W3CDTF">2021-07-20T06:51:37Z</dcterms:created>
  <dcterms:modified xsi:type="dcterms:W3CDTF">2023-02-11T19:12:03Z</dcterms:modified>
</cp:coreProperties>
</file>